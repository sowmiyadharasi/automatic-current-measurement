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Cormorant Garamond Bold Italics" charset="1" panose="00000800000000000000"/>
      <p:regular r:id="rId16"/>
    </p:embeddedFont>
    <p:embeddedFont>
      <p:font typeface="Quicksand" charset="1" panose="00000000000000000000"/>
      <p:regular r:id="rId17"/>
    </p:embeddedFont>
    <p:embeddedFont>
      <p:font typeface="Quicksand Bold" charset="1" panose="00000000000000000000"/>
      <p:regular r:id="rId18"/>
    </p:embeddedFont>
    <p:embeddedFont>
      <p:font typeface="Cormorant Garamond Bold" charset="1" panose="00000800000000000000"/>
      <p:regular r:id="rId19"/>
    </p:embeddedFont>
    <p:embeddedFont>
      <p:font typeface="Cormorant Garamond" charset="1" panose="0000050000000000000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TextBox 2" id="2"/>
          <p:cNvSpPr txBox="true"/>
          <p:nvPr/>
        </p:nvSpPr>
        <p:spPr>
          <a:xfrm rot="0">
            <a:off x="1503735" y="2654366"/>
            <a:ext cx="16229942" cy="4049278"/>
          </a:xfrm>
          <a:prstGeom prst="rect">
            <a:avLst/>
          </a:prstGeom>
        </p:spPr>
        <p:txBody>
          <a:bodyPr anchor="t" rtlCol="false" tIns="0" lIns="0" bIns="0" rIns="0">
            <a:spAutoFit/>
          </a:bodyPr>
          <a:lstStyle/>
          <a:p>
            <a:pPr algn="ctr" marL="0" indent="0" lvl="0">
              <a:lnSpc>
                <a:spcPts val="16211"/>
              </a:lnSpc>
              <a:spcBef>
                <a:spcPct val="0"/>
              </a:spcBef>
            </a:pPr>
            <a:r>
              <a:rPr lang="en-US" b="true" sz="11579" i="true">
                <a:solidFill>
                  <a:srgbClr val="0F4662"/>
                </a:solidFill>
                <a:latin typeface="Cormorant Garamond Bold Italics"/>
                <a:ea typeface="Cormorant Garamond Bold Italics"/>
                <a:cs typeface="Cormorant Garamond Bold Italics"/>
                <a:sym typeface="Cormorant Garamond Bold Italics"/>
              </a:rPr>
              <a:t>AUTOMATIC CURRENT MEASUREMENT</a:t>
            </a:r>
          </a:p>
        </p:txBody>
      </p:sp>
      <p:sp>
        <p:nvSpPr>
          <p:cNvPr name="AutoShape 3" id="3"/>
          <p:cNvSpPr/>
          <p:nvPr/>
        </p:nvSpPr>
        <p:spPr>
          <a:xfrm>
            <a:off x="9158735" y="990600"/>
            <a:ext cx="8114971" cy="0"/>
          </a:xfrm>
          <a:prstGeom prst="line">
            <a:avLst/>
          </a:prstGeom>
          <a:ln cap="flat" w="76200">
            <a:solidFill>
              <a:srgbClr val="0F4662"/>
            </a:solidFill>
            <a:prstDash val="solid"/>
            <a:headEnd type="none" len="sm" w="sm"/>
            <a:tailEnd type="none" len="sm" w="sm"/>
          </a:ln>
        </p:spPr>
      </p:sp>
      <p:sp>
        <p:nvSpPr>
          <p:cNvPr name="AutoShape 4" id="4"/>
          <p:cNvSpPr/>
          <p:nvPr/>
        </p:nvSpPr>
        <p:spPr>
          <a:xfrm>
            <a:off x="1043764" y="9296400"/>
            <a:ext cx="8114971" cy="0"/>
          </a:xfrm>
          <a:prstGeom prst="line">
            <a:avLst/>
          </a:prstGeom>
          <a:ln cap="flat" w="76200">
            <a:solidFill>
              <a:srgbClr val="0F4662"/>
            </a:solidFill>
            <a:prstDash val="solid"/>
            <a:headEnd type="none" len="sm" w="sm"/>
            <a:tailEnd type="none" len="sm" w="sm"/>
          </a:ln>
        </p:spPr>
      </p:sp>
      <p:sp>
        <p:nvSpPr>
          <p:cNvPr name="Freeform 5" id="5"/>
          <p:cNvSpPr/>
          <p:nvPr/>
        </p:nvSpPr>
        <p:spPr>
          <a:xfrm flipH="false" flipV="false" rot="0">
            <a:off x="9618706" y="9037492"/>
            <a:ext cx="2968854" cy="441617"/>
          </a:xfrm>
          <a:custGeom>
            <a:avLst/>
            <a:gdLst/>
            <a:ahLst/>
            <a:cxnLst/>
            <a:rect r="r" b="b" t="t" l="l"/>
            <a:pathLst>
              <a:path h="441617" w="2968854">
                <a:moveTo>
                  <a:pt x="0" y="0"/>
                </a:moveTo>
                <a:lnTo>
                  <a:pt x="2968854" y="0"/>
                </a:lnTo>
                <a:lnTo>
                  <a:pt x="2968854" y="441616"/>
                </a:lnTo>
                <a:lnTo>
                  <a:pt x="0" y="4416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5649752" y="7032069"/>
            <a:ext cx="6988496" cy="525912"/>
          </a:xfrm>
          <a:prstGeom prst="rect">
            <a:avLst/>
          </a:prstGeom>
        </p:spPr>
        <p:txBody>
          <a:bodyPr anchor="t" rtlCol="false" tIns="0" lIns="0" bIns="0" rIns="0">
            <a:spAutoFit/>
          </a:bodyPr>
          <a:lstStyle/>
          <a:p>
            <a:pPr algn="ctr" marL="0" indent="0" lvl="0">
              <a:lnSpc>
                <a:spcPts val="4397"/>
              </a:lnSpc>
              <a:spcBef>
                <a:spcPct val="0"/>
              </a:spcBef>
            </a:pPr>
            <a:r>
              <a:rPr lang="en-US" sz="3141">
                <a:solidFill>
                  <a:srgbClr val="0F4662"/>
                </a:solidFill>
                <a:latin typeface="Quicksand"/>
                <a:ea typeface="Quicksand"/>
                <a:cs typeface="Quicksand"/>
                <a:sym typeface="Quicksand"/>
              </a:rPr>
              <a:t>MARCH, 2026</a:t>
            </a:r>
          </a:p>
        </p:txBody>
      </p:sp>
      <p:sp>
        <p:nvSpPr>
          <p:cNvPr name="TextBox 7" id="7"/>
          <p:cNvSpPr txBox="true"/>
          <p:nvPr/>
        </p:nvSpPr>
        <p:spPr>
          <a:xfrm rot="0">
            <a:off x="3322179" y="1967581"/>
            <a:ext cx="11643643" cy="529811"/>
          </a:xfrm>
          <a:prstGeom prst="rect">
            <a:avLst/>
          </a:prstGeom>
        </p:spPr>
        <p:txBody>
          <a:bodyPr anchor="t" rtlCol="false" tIns="0" lIns="0" bIns="0" rIns="0">
            <a:spAutoFit/>
          </a:bodyPr>
          <a:lstStyle/>
          <a:p>
            <a:pPr algn="ctr" marL="0" indent="0" lvl="0">
              <a:lnSpc>
                <a:spcPts val="4397"/>
              </a:lnSpc>
              <a:spcBef>
                <a:spcPct val="0"/>
              </a:spcBef>
            </a:pPr>
            <a:r>
              <a:rPr lang="en-US" sz="3141">
                <a:solidFill>
                  <a:srgbClr val="0F4662"/>
                </a:solidFill>
                <a:latin typeface="Quicksand"/>
                <a:ea typeface="Quicksand"/>
                <a:cs typeface="Quicksand"/>
                <a:sym typeface="Quicksand"/>
              </a:rPr>
              <a:t>Prepared by SOWMIYADHARASI </a:t>
            </a:r>
          </a:p>
        </p:txBody>
      </p:sp>
      <p:sp>
        <p:nvSpPr>
          <p:cNvPr name="Freeform 8" id="8"/>
          <p:cNvSpPr/>
          <p:nvPr/>
        </p:nvSpPr>
        <p:spPr>
          <a:xfrm flipH="false" flipV="false" rot="0">
            <a:off x="5646742" y="807892"/>
            <a:ext cx="2968854" cy="441617"/>
          </a:xfrm>
          <a:custGeom>
            <a:avLst/>
            <a:gdLst/>
            <a:ahLst/>
            <a:cxnLst/>
            <a:rect r="r" b="b" t="t" l="l"/>
            <a:pathLst>
              <a:path h="441617" w="2968854">
                <a:moveTo>
                  <a:pt x="0" y="0"/>
                </a:moveTo>
                <a:lnTo>
                  <a:pt x="2968854" y="0"/>
                </a:lnTo>
                <a:lnTo>
                  <a:pt x="2968854" y="441616"/>
                </a:lnTo>
                <a:lnTo>
                  <a:pt x="0" y="4416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AutoShape 2" id="2"/>
          <p:cNvSpPr/>
          <p:nvPr/>
        </p:nvSpPr>
        <p:spPr>
          <a:xfrm>
            <a:off x="5897880" y="3568974"/>
            <a:ext cx="6492240" cy="0"/>
          </a:xfrm>
          <a:prstGeom prst="line">
            <a:avLst/>
          </a:prstGeom>
          <a:ln cap="flat" w="76200">
            <a:solidFill>
              <a:srgbClr val="0F4662"/>
            </a:solidFill>
            <a:prstDash val="solid"/>
            <a:headEnd type="none" len="sm" w="sm"/>
            <a:tailEnd type="none" len="sm" w="sm"/>
          </a:ln>
        </p:spPr>
      </p:sp>
      <p:sp>
        <p:nvSpPr>
          <p:cNvPr name="AutoShape 3" id="3"/>
          <p:cNvSpPr/>
          <p:nvPr/>
        </p:nvSpPr>
        <p:spPr>
          <a:xfrm>
            <a:off x="5897880" y="7171009"/>
            <a:ext cx="6492240" cy="0"/>
          </a:xfrm>
          <a:prstGeom prst="line">
            <a:avLst/>
          </a:prstGeom>
          <a:ln cap="flat" w="76200">
            <a:solidFill>
              <a:srgbClr val="0F4662"/>
            </a:solidFill>
            <a:prstDash val="solid"/>
            <a:headEnd type="none" len="sm" w="sm"/>
            <a:tailEnd type="none" len="sm" w="sm"/>
          </a:ln>
        </p:spPr>
      </p:sp>
      <p:sp>
        <p:nvSpPr>
          <p:cNvPr name="Freeform 4" id="4"/>
          <p:cNvSpPr/>
          <p:nvPr/>
        </p:nvSpPr>
        <p:spPr>
          <a:xfrm flipH="false" flipV="false" rot="0">
            <a:off x="8304001" y="2470557"/>
            <a:ext cx="1679997" cy="249900"/>
          </a:xfrm>
          <a:custGeom>
            <a:avLst/>
            <a:gdLst/>
            <a:ahLst/>
            <a:cxnLst/>
            <a:rect r="r" b="b" t="t" l="l"/>
            <a:pathLst>
              <a:path h="249900" w="1679997">
                <a:moveTo>
                  <a:pt x="0" y="0"/>
                </a:moveTo>
                <a:lnTo>
                  <a:pt x="1679998" y="0"/>
                </a:lnTo>
                <a:lnTo>
                  <a:pt x="1679998" y="249899"/>
                </a:lnTo>
                <a:lnTo>
                  <a:pt x="0" y="2498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1028700" y="599709"/>
            <a:ext cx="8048163"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Introduction</a:t>
            </a:r>
          </a:p>
        </p:txBody>
      </p:sp>
      <p:sp>
        <p:nvSpPr>
          <p:cNvPr name="Freeform 6" id="6"/>
          <p:cNvSpPr/>
          <p:nvPr/>
        </p:nvSpPr>
        <p:spPr>
          <a:xfrm flipH="false" flipV="false" rot="0">
            <a:off x="8304001" y="8019527"/>
            <a:ext cx="1679997" cy="249900"/>
          </a:xfrm>
          <a:custGeom>
            <a:avLst/>
            <a:gdLst/>
            <a:ahLst/>
            <a:cxnLst/>
            <a:rect r="r" b="b" t="t" l="l"/>
            <a:pathLst>
              <a:path h="249900" w="1679997">
                <a:moveTo>
                  <a:pt x="0" y="0"/>
                </a:moveTo>
                <a:lnTo>
                  <a:pt x="1679998" y="0"/>
                </a:lnTo>
                <a:lnTo>
                  <a:pt x="1679998"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2869788" y="3893185"/>
            <a:ext cx="13529422" cy="2750250"/>
          </a:xfrm>
          <a:prstGeom prst="rect">
            <a:avLst/>
          </a:prstGeom>
        </p:spPr>
        <p:txBody>
          <a:bodyPr anchor="t" rtlCol="false" tIns="0" lIns="0" bIns="0" rIns="0">
            <a:spAutoFit/>
          </a:bodyPr>
          <a:lstStyle/>
          <a:p>
            <a:pPr algn="ctr">
              <a:lnSpc>
                <a:spcPts val="3687"/>
              </a:lnSpc>
              <a:spcBef>
                <a:spcPct val="0"/>
              </a:spcBef>
            </a:pPr>
            <a:r>
              <a:rPr lang="en-US" sz="2633">
                <a:solidFill>
                  <a:srgbClr val="0F4662"/>
                </a:solidFill>
                <a:latin typeface="Quicksand"/>
                <a:ea typeface="Quicksand"/>
                <a:cs typeface="Quicksand"/>
                <a:sym typeface="Quicksand"/>
              </a:rPr>
              <a:t>Automatic current measurement plays a crucial role in modern electrical systems by enabling real-time monitoring, enhancing energy efficiency, and ensuring safety. This project focuses on designing and implementing a smart current measurement system that can automatically detect, measure, and display current flow in electrical circuits. The system can be used in homes, industries, and electric vehicle charging stations for monitoring and control.</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14093893" y="15849"/>
            <a:ext cx="4194107" cy="10271151"/>
            <a:chOff x="0" y="0"/>
            <a:chExt cx="1104621" cy="2705159"/>
          </a:xfrm>
        </p:grpSpPr>
        <p:sp>
          <p:nvSpPr>
            <p:cNvPr name="Freeform 3" id="3"/>
            <p:cNvSpPr/>
            <p:nvPr/>
          </p:nvSpPr>
          <p:spPr>
            <a:xfrm flipH="false" flipV="false" rot="0">
              <a:off x="0" y="0"/>
              <a:ext cx="1104621" cy="2705159"/>
            </a:xfrm>
            <a:custGeom>
              <a:avLst/>
              <a:gdLst/>
              <a:ahLst/>
              <a:cxnLst/>
              <a:rect r="r" b="b" t="t" l="l"/>
              <a:pathLst>
                <a:path h="2705159" w="1104621">
                  <a:moveTo>
                    <a:pt x="0" y="0"/>
                  </a:moveTo>
                  <a:lnTo>
                    <a:pt x="1104621" y="0"/>
                  </a:lnTo>
                  <a:lnTo>
                    <a:pt x="1104621" y="2705159"/>
                  </a:lnTo>
                  <a:lnTo>
                    <a:pt x="0" y="2705159"/>
                  </a:lnTo>
                  <a:close/>
                </a:path>
              </a:pathLst>
            </a:custGeom>
            <a:solidFill>
              <a:srgbClr val="7994A0"/>
            </a:solidFill>
          </p:spPr>
        </p:sp>
        <p:sp>
          <p:nvSpPr>
            <p:cNvPr name="TextBox 4" id="4"/>
            <p:cNvSpPr txBox="true"/>
            <p:nvPr/>
          </p:nvSpPr>
          <p:spPr>
            <a:xfrm>
              <a:off x="0" y="-47625"/>
              <a:ext cx="1104621" cy="2752784"/>
            </a:xfrm>
            <a:prstGeom prst="rect">
              <a:avLst/>
            </a:prstGeom>
          </p:spPr>
          <p:txBody>
            <a:bodyPr anchor="ctr" rtlCol="false" tIns="50800" lIns="50800" bIns="50800" rIns="50800"/>
            <a:lstStyle/>
            <a:p>
              <a:pPr algn="ctr">
                <a:lnSpc>
                  <a:spcPts val="3693"/>
                </a:lnSpc>
              </a:pPr>
            </a:p>
          </p:txBody>
        </p:sp>
      </p:grpSp>
      <p:grpSp>
        <p:nvGrpSpPr>
          <p:cNvPr name="Group 5" id="5"/>
          <p:cNvGrpSpPr/>
          <p:nvPr/>
        </p:nvGrpSpPr>
        <p:grpSpPr>
          <a:xfrm rot="0">
            <a:off x="10928486" y="1684924"/>
            <a:ext cx="6330814" cy="7573376"/>
            <a:chOff x="0" y="0"/>
            <a:chExt cx="8441085" cy="10097834"/>
          </a:xfrm>
        </p:grpSpPr>
        <p:pic>
          <p:nvPicPr>
            <p:cNvPr name="Picture 6" id="6"/>
            <p:cNvPicPr>
              <a:picLocks noChangeAspect="true"/>
            </p:cNvPicPr>
            <p:nvPr/>
          </p:nvPicPr>
          <p:blipFill>
            <a:blip r:embed="rId2"/>
            <a:srcRect l="26544" t="0" r="26544" b="0"/>
            <a:stretch>
              <a:fillRect/>
            </a:stretch>
          </p:blipFill>
          <p:spPr>
            <a:xfrm flipH="false" flipV="false">
              <a:off x="0" y="0"/>
              <a:ext cx="8441085" cy="10097834"/>
            </a:xfrm>
            <a:prstGeom prst="rect">
              <a:avLst/>
            </a:prstGeom>
          </p:spPr>
        </p:pic>
      </p:grpSp>
      <p:sp>
        <p:nvSpPr>
          <p:cNvPr name="Freeform 7" id="7"/>
          <p:cNvSpPr/>
          <p:nvPr/>
        </p:nvSpPr>
        <p:spPr>
          <a:xfrm flipH="false" flipV="false" rot="0">
            <a:off x="1028700" y="8974931"/>
            <a:ext cx="1905000" cy="283369"/>
          </a:xfrm>
          <a:custGeom>
            <a:avLst/>
            <a:gdLst/>
            <a:ahLst/>
            <a:cxnLst/>
            <a:rect r="r" b="b" t="t" l="l"/>
            <a:pathLst>
              <a:path h="283369" w="1905000">
                <a:moveTo>
                  <a:pt x="0" y="0"/>
                </a:moveTo>
                <a:lnTo>
                  <a:pt x="1905000" y="0"/>
                </a:lnTo>
                <a:lnTo>
                  <a:pt x="1905000" y="283369"/>
                </a:lnTo>
                <a:lnTo>
                  <a:pt x="0" y="28336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1028700" y="599709"/>
            <a:ext cx="9390243"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Background Project</a:t>
            </a:r>
          </a:p>
        </p:txBody>
      </p:sp>
      <p:sp>
        <p:nvSpPr>
          <p:cNvPr name="TextBox 9" id="9"/>
          <p:cNvSpPr txBox="true"/>
          <p:nvPr/>
        </p:nvSpPr>
        <p:spPr>
          <a:xfrm rot="0">
            <a:off x="1028700" y="2580355"/>
            <a:ext cx="6938067" cy="490855"/>
          </a:xfrm>
          <a:prstGeom prst="rect">
            <a:avLst/>
          </a:prstGeom>
        </p:spPr>
        <p:txBody>
          <a:bodyPr anchor="t" rtlCol="false" tIns="0" lIns="0" bIns="0" rIns="0">
            <a:spAutoFit/>
          </a:bodyPr>
          <a:lstStyle/>
          <a:p>
            <a:pPr algn="l" marL="0" indent="0" lvl="0">
              <a:lnSpc>
                <a:spcPts val="3919"/>
              </a:lnSpc>
              <a:spcBef>
                <a:spcPct val="0"/>
              </a:spcBef>
            </a:pPr>
            <a:r>
              <a:rPr lang="en-US" b="true" sz="2799">
                <a:solidFill>
                  <a:srgbClr val="0F4662"/>
                </a:solidFill>
                <a:latin typeface="Quicksand Bold"/>
                <a:ea typeface="Quicksand Bold"/>
                <a:cs typeface="Quicksand Bold"/>
                <a:sym typeface="Quicksand Bold"/>
              </a:rPr>
              <a:t>Current scenario:</a:t>
            </a:r>
          </a:p>
        </p:txBody>
      </p:sp>
      <p:sp>
        <p:nvSpPr>
          <p:cNvPr name="TextBox 10" id="10"/>
          <p:cNvSpPr txBox="true"/>
          <p:nvPr/>
        </p:nvSpPr>
        <p:spPr>
          <a:xfrm rot="0">
            <a:off x="1028700" y="3267935"/>
            <a:ext cx="8857452" cy="5629275"/>
          </a:xfrm>
          <a:prstGeom prst="rect">
            <a:avLst/>
          </a:prstGeom>
        </p:spPr>
        <p:txBody>
          <a:bodyPr anchor="t" rtlCol="false" tIns="0" lIns="0" bIns="0" rIns="0">
            <a:spAutoFit/>
          </a:bodyPr>
          <a:lstStyle/>
          <a:p>
            <a:pPr algn="ctr">
              <a:lnSpc>
                <a:spcPts val="4079"/>
              </a:lnSpc>
              <a:spcBef>
                <a:spcPct val="0"/>
              </a:spcBef>
            </a:pPr>
            <a:r>
              <a:rPr lang="en-US" b="true" sz="2400">
                <a:solidFill>
                  <a:srgbClr val="0F4662"/>
                </a:solidFill>
                <a:latin typeface="Quicksand Bold"/>
                <a:ea typeface="Quicksand Bold"/>
                <a:cs typeface="Quicksand Bold"/>
                <a:sym typeface="Quicksand Bold"/>
              </a:rPr>
              <a:t>W</a:t>
            </a:r>
            <a:r>
              <a:rPr lang="en-US" b="true" sz="2400">
                <a:solidFill>
                  <a:srgbClr val="0F4662"/>
                </a:solidFill>
                <a:latin typeface="Quicksand Bold"/>
                <a:ea typeface="Quicksand Bold"/>
                <a:cs typeface="Quicksand Bold"/>
                <a:sym typeface="Quicksand Bold"/>
              </a:rPr>
              <a:t>ith the rise of smart grids, electric vehicles, and industrial automation, accurate current measurement has become more critical than ever. Traditional manual methods are being replaced by automated, real-time monitoring systems that enhance efficiency, safety, and reliability. Industries now integrate IoT-based current sensors for remote monitoring, predictive maintenance, and energy optimization. Advancements in AI and data analytics further improve fault detection and power management, making automatic current measurement a key component in modern electrical infrastructure.</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1484177" y="2456695"/>
            <a:ext cx="15518323" cy="6801605"/>
            <a:chOff x="0" y="0"/>
            <a:chExt cx="4087130" cy="1791369"/>
          </a:xfrm>
        </p:grpSpPr>
        <p:sp>
          <p:nvSpPr>
            <p:cNvPr name="Freeform 3" id="3"/>
            <p:cNvSpPr/>
            <p:nvPr/>
          </p:nvSpPr>
          <p:spPr>
            <a:xfrm flipH="false" flipV="false" rot="0">
              <a:off x="0" y="0"/>
              <a:ext cx="4087130" cy="1791369"/>
            </a:xfrm>
            <a:custGeom>
              <a:avLst/>
              <a:gdLst/>
              <a:ahLst/>
              <a:cxnLst/>
              <a:rect r="r" b="b" t="t" l="l"/>
              <a:pathLst>
                <a:path h="1791369" w="4087130">
                  <a:moveTo>
                    <a:pt x="25443" y="0"/>
                  </a:moveTo>
                  <a:lnTo>
                    <a:pt x="4061687" y="0"/>
                  </a:lnTo>
                  <a:cubicBezTo>
                    <a:pt x="4075739" y="0"/>
                    <a:pt x="4087130" y="11391"/>
                    <a:pt x="4087130" y="25443"/>
                  </a:cubicBezTo>
                  <a:lnTo>
                    <a:pt x="4087130" y="1765926"/>
                  </a:lnTo>
                  <a:cubicBezTo>
                    <a:pt x="4087130" y="1779978"/>
                    <a:pt x="4075739" y="1791369"/>
                    <a:pt x="4061687" y="1791369"/>
                  </a:cubicBezTo>
                  <a:lnTo>
                    <a:pt x="25443" y="1791369"/>
                  </a:lnTo>
                  <a:cubicBezTo>
                    <a:pt x="11391" y="1791369"/>
                    <a:pt x="0" y="1779978"/>
                    <a:pt x="0" y="1765926"/>
                  </a:cubicBezTo>
                  <a:lnTo>
                    <a:pt x="0" y="25443"/>
                  </a:lnTo>
                  <a:cubicBezTo>
                    <a:pt x="0" y="11391"/>
                    <a:pt x="11391" y="0"/>
                    <a:pt x="25443" y="0"/>
                  </a:cubicBezTo>
                  <a:close/>
                </a:path>
              </a:pathLst>
            </a:custGeom>
            <a:solidFill>
              <a:srgbClr val="7994A0"/>
            </a:solidFill>
          </p:spPr>
        </p:sp>
        <p:sp>
          <p:nvSpPr>
            <p:cNvPr name="TextBox 4" id="4"/>
            <p:cNvSpPr txBox="true"/>
            <p:nvPr/>
          </p:nvSpPr>
          <p:spPr>
            <a:xfrm>
              <a:off x="0" y="-123825"/>
              <a:ext cx="4087130" cy="1915194"/>
            </a:xfrm>
            <a:prstGeom prst="rect">
              <a:avLst/>
            </a:prstGeom>
          </p:spPr>
          <p:txBody>
            <a:bodyPr anchor="ctr" rtlCol="false" tIns="50800" lIns="50800" bIns="50800" rIns="50800"/>
            <a:lstStyle/>
            <a:p>
              <a:pPr algn="ctr">
                <a:lnSpc>
                  <a:spcPts val="4079"/>
                </a:lnSpc>
              </a:pPr>
            </a:p>
          </p:txBody>
        </p:sp>
      </p:grpSp>
      <p:sp>
        <p:nvSpPr>
          <p:cNvPr name="TextBox 5" id="5"/>
          <p:cNvSpPr txBox="true"/>
          <p:nvPr/>
        </p:nvSpPr>
        <p:spPr>
          <a:xfrm rot="0">
            <a:off x="1028700" y="599709"/>
            <a:ext cx="8115300"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Objectives</a:t>
            </a:r>
          </a:p>
        </p:txBody>
      </p:sp>
      <p:sp>
        <p:nvSpPr>
          <p:cNvPr name="AutoShape 6" id="6"/>
          <p:cNvSpPr/>
          <p:nvPr/>
        </p:nvSpPr>
        <p:spPr>
          <a:xfrm>
            <a:off x="10767060" y="990600"/>
            <a:ext cx="6492240" cy="0"/>
          </a:xfrm>
          <a:prstGeom prst="line">
            <a:avLst/>
          </a:prstGeom>
          <a:ln cap="flat" w="76200">
            <a:solidFill>
              <a:srgbClr val="0F4662"/>
            </a:solidFill>
            <a:prstDash val="solid"/>
            <a:headEnd type="none" len="sm" w="sm"/>
            <a:tailEnd type="none" len="sm" w="sm"/>
          </a:ln>
        </p:spPr>
      </p:sp>
      <p:grpSp>
        <p:nvGrpSpPr>
          <p:cNvPr name="Group 7" id="7"/>
          <p:cNvGrpSpPr/>
          <p:nvPr/>
        </p:nvGrpSpPr>
        <p:grpSpPr>
          <a:xfrm rot="0">
            <a:off x="1195072" y="2233815"/>
            <a:ext cx="15518323" cy="6801605"/>
            <a:chOff x="0" y="0"/>
            <a:chExt cx="4087130" cy="1791369"/>
          </a:xfrm>
        </p:grpSpPr>
        <p:sp>
          <p:nvSpPr>
            <p:cNvPr name="Freeform 8" id="8"/>
            <p:cNvSpPr/>
            <p:nvPr/>
          </p:nvSpPr>
          <p:spPr>
            <a:xfrm flipH="false" flipV="false" rot="0">
              <a:off x="0" y="0"/>
              <a:ext cx="4087130" cy="1791369"/>
            </a:xfrm>
            <a:custGeom>
              <a:avLst/>
              <a:gdLst/>
              <a:ahLst/>
              <a:cxnLst/>
              <a:rect r="r" b="b" t="t" l="l"/>
              <a:pathLst>
                <a:path h="1791369" w="4087130">
                  <a:moveTo>
                    <a:pt x="25443" y="0"/>
                  </a:moveTo>
                  <a:lnTo>
                    <a:pt x="4061687" y="0"/>
                  </a:lnTo>
                  <a:cubicBezTo>
                    <a:pt x="4075739" y="0"/>
                    <a:pt x="4087130" y="11391"/>
                    <a:pt x="4087130" y="25443"/>
                  </a:cubicBezTo>
                  <a:lnTo>
                    <a:pt x="4087130" y="1765926"/>
                  </a:lnTo>
                  <a:cubicBezTo>
                    <a:pt x="4087130" y="1779978"/>
                    <a:pt x="4075739" y="1791369"/>
                    <a:pt x="4061687" y="1791369"/>
                  </a:cubicBezTo>
                  <a:lnTo>
                    <a:pt x="25443" y="1791369"/>
                  </a:lnTo>
                  <a:cubicBezTo>
                    <a:pt x="11391" y="1791369"/>
                    <a:pt x="0" y="1779978"/>
                    <a:pt x="0" y="1765926"/>
                  </a:cubicBezTo>
                  <a:lnTo>
                    <a:pt x="0" y="25443"/>
                  </a:lnTo>
                  <a:cubicBezTo>
                    <a:pt x="0" y="11391"/>
                    <a:pt x="11391" y="0"/>
                    <a:pt x="25443" y="0"/>
                  </a:cubicBezTo>
                  <a:close/>
                </a:path>
              </a:pathLst>
            </a:custGeom>
            <a:solidFill>
              <a:srgbClr val="DBE5EA"/>
            </a:solidFill>
          </p:spPr>
        </p:sp>
        <p:sp>
          <p:nvSpPr>
            <p:cNvPr name="TextBox 9" id="9"/>
            <p:cNvSpPr txBox="true"/>
            <p:nvPr/>
          </p:nvSpPr>
          <p:spPr>
            <a:xfrm>
              <a:off x="0" y="-123825"/>
              <a:ext cx="4087130" cy="1915194"/>
            </a:xfrm>
            <a:prstGeom prst="rect">
              <a:avLst/>
            </a:prstGeom>
          </p:spPr>
          <p:txBody>
            <a:bodyPr anchor="ctr" rtlCol="false" tIns="50800" lIns="50800" bIns="50800" rIns="50800"/>
            <a:lstStyle/>
            <a:p>
              <a:pPr algn="ctr">
                <a:lnSpc>
                  <a:spcPts val="4079"/>
                </a:lnSpc>
              </a:pPr>
            </a:p>
          </p:txBody>
        </p:sp>
      </p:grpSp>
      <p:sp>
        <p:nvSpPr>
          <p:cNvPr name="TextBox 10" id="10"/>
          <p:cNvSpPr txBox="true"/>
          <p:nvPr/>
        </p:nvSpPr>
        <p:spPr>
          <a:xfrm rot="0">
            <a:off x="1351726" y="3323433"/>
            <a:ext cx="14895653" cy="5139027"/>
          </a:xfrm>
          <a:prstGeom prst="rect">
            <a:avLst/>
          </a:prstGeom>
        </p:spPr>
        <p:txBody>
          <a:bodyPr anchor="t" rtlCol="false" tIns="0" lIns="0" bIns="0" rIns="0">
            <a:spAutoFit/>
          </a:bodyPr>
          <a:lstStyle/>
          <a:p>
            <a:pPr algn="ctr" marL="700339" indent="-350170" lvl="1">
              <a:lnSpc>
                <a:spcPts val="4541"/>
              </a:lnSpc>
              <a:spcBef>
                <a:spcPct val="0"/>
              </a:spcBef>
              <a:buFont typeface="Arial"/>
              <a:buChar char="•"/>
            </a:pPr>
            <a:r>
              <a:rPr lang="en-US" b="true" sz="3243">
                <a:solidFill>
                  <a:srgbClr val="0F4662"/>
                </a:solidFill>
                <a:latin typeface="Quicksand Bold"/>
                <a:ea typeface="Quicksand Bold"/>
                <a:cs typeface="Quicksand Bold"/>
                <a:sym typeface="Quicksand Bold"/>
              </a:rPr>
              <a:t>          </a:t>
            </a:r>
            <a:r>
              <a:rPr lang="en-US" b="true" sz="3243">
                <a:solidFill>
                  <a:srgbClr val="0F4662"/>
                </a:solidFill>
                <a:latin typeface="Quicksand Bold"/>
                <a:ea typeface="Quicksand Bold"/>
                <a:cs typeface="Quicksand Bold"/>
                <a:sym typeface="Quicksand Bold"/>
              </a:rPr>
              <a:t>To automatically measure and display real-time current flow in a circuit.</a:t>
            </a:r>
          </a:p>
          <a:p>
            <a:pPr algn="ctr">
              <a:lnSpc>
                <a:spcPts val="4541"/>
              </a:lnSpc>
              <a:spcBef>
                <a:spcPct val="0"/>
              </a:spcBef>
            </a:pPr>
          </a:p>
          <a:p>
            <a:pPr algn="ctr" marL="700339" indent="-350170" lvl="1">
              <a:lnSpc>
                <a:spcPts val="4541"/>
              </a:lnSpc>
              <a:spcBef>
                <a:spcPct val="0"/>
              </a:spcBef>
              <a:buFont typeface="Arial"/>
              <a:buChar char="•"/>
            </a:pPr>
            <a:r>
              <a:rPr lang="en-US" b="true" sz="3243">
                <a:solidFill>
                  <a:srgbClr val="0F4662"/>
                </a:solidFill>
                <a:latin typeface="Quicksand Bold"/>
                <a:ea typeface="Quicksand Bold"/>
                <a:cs typeface="Quicksand Bold"/>
                <a:sym typeface="Quicksand Bold"/>
              </a:rPr>
              <a:t>  To detect overcurrent conditions and alert users for safety.</a:t>
            </a:r>
          </a:p>
          <a:p>
            <a:pPr algn="ctr">
              <a:lnSpc>
                <a:spcPts val="4541"/>
              </a:lnSpc>
              <a:spcBef>
                <a:spcPct val="0"/>
              </a:spcBef>
            </a:pPr>
          </a:p>
          <a:p>
            <a:pPr algn="ctr" marL="700339" indent="-350170" lvl="1">
              <a:lnSpc>
                <a:spcPts val="4541"/>
              </a:lnSpc>
              <a:spcBef>
                <a:spcPct val="0"/>
              </a:spcBef>
              <a:buFont typeface="Arial"/>
              <a:buChar char="•"/>
            </a:pPr>
            <a:r>
              <a:rPr lang="en-US" b="true" sz="3243">
                <a:solidFill>
                  <a:srgbClr val="0F4662"/>
                </a:solidFill>
                <a:latin typeface="Quicksand Bold"/>
                <a:ea typeface="Quicksand Bold"/>
                <a:cs typeface="Quicksand Bold"/>
                <a:sym typeface="Quicksand Bold"/>
              </a:rPr>
              <a:t>   To enable remote monitoring using IoT for data logging and analytics.</a:t>
            </a:r>
          </a:p>
          <a:p>
            <a:pPr algn="ctr">
              <a:lnSpc>
                <a:spcPts val="4541"/>
              </a:lnSpc>
              <a:spcBef>
                <a:spcPct val="0"/>
              </a:spcBef>
            </a:pPr>
          </a:p>
          <a:p>
            <a:pPr algn="ctr" marL="700339" indent="-350170" lvl="1">
              <a:lnSpc>
                <a:spcPts val="4541"/>
              </a:lnSpc>
              <a:spcBef>
                <a:spcPct val="0"/>
              </a:spcBef>
              <a:buFont typeface="Arial"/>
              <a:buChar char="•"/>
            </a:pPr>
            <a:r>
              <a:rPr lang="en-US" b="true" sz="3243">
                <a:solidFill>
                  <a:srgbClr val="0F4662"/>
                </a:solidFill>
                <a:latin typeface="Quicksand Bold"/>
                <a:ea typeface="Quicksand Bold"/>
                <a:cs typeface="Quicksand Bold"/>
                <a:sym typeface="Quicksand Bold"/>
              </a:rPr>
              <a:t>To improve energy efficiency and prevent power wastage.</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8449761" y="17009"/>
            <a:ext cx="9838239" cy="10287000"/>
            <a:chOff x="0" y="0"/>
            <a:chExt cx="2591141" cy="2709333"/>
          </a:xfrm>
        </p:grpSpPr>
        <p:sp>
          <p:nvSpPr>
            <p:cNvPr name="Freeform 3" id="3"/>
            <p:cNvSpPr/>
            <p:nvPr/>
          </p:nvSpPr>
          <p:spPr>
            <a:xfrm flipH="false" flipV="false" rot="0">
              <a:off x="0" y="0"/>
              <a:ext cx="2591141" cy="2709333"/>
            </a:xfrm>
            <a:custGeom>
              <a:avLst/>
              <a:gdLst/>
              <a:ahLst/>
              <a:cxnLst/>
              <a:rect r="r" b="b" t="t" l="l"/>
              <a:pathLst>
                <a:path h="2709333" w="2591141">
                  <a:moveTo>
                    <a:pt x="0" y="0"/>
                  </a:moveTo>
                  <a:lnTo>
                    <a:pt x="2591141" y="0"/>
                  </a:lnTo>
                  <a:lnTo>
                    <a:pt x="2591141" y="2709333"/>
                  </a:lnTo>
                  <a:lnTo>
                    <a:pt x="0" y="2709333"/>
                  </a:lnTo>
                  <a:close/>
                </a:path>
              </a:pathLst>
            </a:custGeom>
            <a:solidFill>
              <a:srgbClr val="DBE5EA"/>
            </a:solidFill>
          </p:spPr>
        </p:sp>
        <p:sp>
          <p:nvSpPr>
            <p:cNvPr name="TextBox 4" id="4"/>
            <p:cNvSpPr txBox="true"/>
            <p:nvPr/>
          </p:nvSpPr>
          <p:spPr>
            <a:xfrm>
              <a:off x="0" y="-123825"/>
              <a:ext cx="2591141" cy="2833158"/>
            </a:xfrm>
            <a:prstGeom prst="rect">
              <a:avLst/>
            </a:prstGeom>
          </p:spPr>
          <p:txBody>
            <a:bodyPr anchor="ctr" rtlCol="false" tIns="50800" lIns="50800" bIns="50800" rIns="50800"/>
            <a:lstStyle/>
            <a:p>
              <a:pPr algn="ctr">
                <a:lnSpc>
                  <a:spcPts val="4079"/>
                </a:lnSpc>
              </a:pPr>
            </a:p>
          </p:txBody>
        </p:sp>
      </p:grpSp>
      <p:sp>
        <p:nvSpPr>
          <p:cNvPr name="AutoShape 5" id="5"/>
          <p:cNvSpPr/>
          <p:nvPr/>
        </p:nvSpPr>
        <p:spPr>
          <a:xfrm>
            <a:off x="741721" y="5988723"/>
            <a:ext cx="6492240" cy="0"/>
          </a:xfrm>
          <a:prstGeom prst="line">
            <a:avLst/>
          </a:prstGeom>
          <a:ln cap="flat" w="76200">
            <a:solidFill>
              <a:srgbClr val="0F4662"/>
            </a:solidFill>
            <a:prstDash val="solid"/>
            <a:headEnd type="none" len="sm" w="sm"/>
            <a:tailEnd type="none" len="sm" w="sm"/>
          </a:ln>
        </p:spPr>
      </p:sp>
      <p:sp>
        <p:nvSpPr>
          <p:cNvPr name="AutoShape 6" id="6"/>
          <p:cNvSpPr/>
          <p:nvPr/>
        </p:nvSpPr>
        <p:spPr>
          <a:xfrm>
            <a:off x="741721" y="4065834"/>
            <a:ext cx="6492240" cy="0"/>
          </a:xfrm>
          <a:prstGeom prst="line">
            <a:avLst/>
          </a:prstGeom>
          <a:ln cap="flat" w="76200">
            <a:solidFill>
              <a:srgbClr val="0F4662"/>
            </a:solidFill>
            <a:prstDash val="solid"/>
            <a:headEnd type="none" len="sm" w="sm"/>
            <a:tailEnd type="none" len="sm" w="sm"/>
          </a:ln>
        </p:spPr>
      </p:sp>
      <p:sp>
        <p:nvSpPr>
          <p:cNvPr name="TextBox 7" id="7"/>
          <p:cNvSpPr txBox="true"/>
          <p:nvPr/>
        </p:nvSpPr>
        <p:spPr>
          <a:xfrm rot="0">
            <a:off x="1028700" y="4599234"/>
            <a:ext cx="9480749"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Components Used</a:t>
            </a:r>
          </a:p>
        </p:txBody>
      </p:sp>
      <p:sp>
        <p:nvSpPr>
          <p:cNvPr name="TextBox 8" id="8"/>
          <p:cNvSpPr txBox="true"/>
          <p:nvPr/>
        </p:nvSpPr>
        <p:spPr>
          <a:xfrm rot="0">
            <a:off x="8877476" y="1570226"/>
            <a:ext cx="8982809" cy="8171296"/>
          </a:xfrm>
          <a:prstGeom prst="rect">
            <a:avLst/>
          </a:prstGeom>
        </p:spPr>
        <p:txBody>
          <a:bodyPr anchor="t" rtlCol="false" tIns="0" lIns="0" bIns="0" rIns="0">
            <a:spAutoFit/>
          </a:bodyPr>
          <a:lstStyle/>
          <a:p>
            <a:pPr algn="ctr" marL="621350" indent="-310675" lvl="1">
              <a:lnSpc>
                <a:spcPts val="4029"/>
              </a:lnSpc>
              <a:spcBef>
                <a:spcPct val="0"/>
              </a:spcBef>
              <a:buFont typeface="Arial"/>
              <a:buChar char="•"/>
            </a:pPr>
            <a:r>
              <a:rPr lang="en-US" b="true" sz="2877">
                <a:solidFill>
                  <a:srgbClr val="0F4662"/>
                </a:solidFill>
                <a:latin typeface="Quicksand Bold"/>
                <a:ea typeface="Quicksand Bold"/>
                <a:cs typeface="Quicksand Bold"/>
                <a:sym typeface="Quicksand Bold"/>
              </a:rPr>
              <a:t>Current Sensor</a:t>
            </a:r>
            <a:r>
              <a:rPr lang="en-US" sz="2877">
                <a:solidFill>
                  <a:srgbClr val="0F4662"/>
                </a:solidFill>
                <a:latin typeface="Quicksand"/>
                <a:ea typeface="Quicksand"/>
                <a:cs typeface="Quicksand"/>
                <a:sym typeface="Quicksand"/>
              </a:rPr>
              <a:t> (ACS712, Hall-effect sensor, or Shunt Resistor) – To measure current flow.</a:t>
            </a:r>
          </a:p>
          <a:p>
            <a:pPr algn="ctr">
              <a:lnSpc>
                <a:spcPts val="4029"/>
              </a:lnSpc>
              <a:spcBef>
                <a:spcPct val="0"/>
              </a:spcBef>
            </a:pPr>
          </a:p>
          <a:p>
            <a:pPr algn="ctr" marL="621350" indent="-310675" lvl="1">
              <a:lnSpc>
                <a:spcPts val="4029"/>
              </a:lnSpc>
              <a:spcBef>
                <a:spcPct val="0"/>
              </a:spcBef>
              <a:buFont typeface="Arial"/>
              <a:buChar char="•"/>
            </a:pPr>
            <a:r>
              <a:rPr lang="en-US" b="true" sz="2877">
                <a:solidFill>
                  <a:srgbClr val="0F4662"/>
                </a:solidFill>
                <a:latin typeface="Quicksand Bold"/>
                <a:ea typeface="Quicksand Bold"/>
                <a:cs typeface="Quicksand Bold"/>
                <a:sym typeface="Quicksand Bold"/>
              </a:rPr>
              <a:t>Microcontroller </a:t>
            </a:r>
            <a:r>
              <a:rPr lang="en-US" sz="2877">
                <a:solidFill>
                  <a:srgbClr val="0F4662"/>
                </a:solidFill>
                <a:latin typeface="Quicksand"/>
                <a:ea typeface="Quicksand"/>
                <a:cs typeface="Quicksand"/>
                <a:sym typeface="Quicksand"/>
              </a:rPr>
              <a:t>(Arduino, ESP32, or Raspberry Pi) – To process data from the sensor.</a:t>
            </a:r>
          </a:p>
          <a:p>
            <a:pPr algn="ctr">
              <a:lnSpc>
                <a:spcPts val="4029"/>
              </a:lnSpc>
              <a:spcBef>
                <a:spcPct val="0"/>
              </a:spcBef>
            </a:pPr>
          </a:p>
          <a:p>
            <a:pPr algn="ctr" marL="621350" indent="-310675" lvl="1">
              <a:lnSpc>
                <a:spcPts val="4029"/>
              </a:lnSpc>
              <a:spcBef>
                <a:spcPct val="0"/>
              </a:spcBef>
              <a:buFont typeface="Arial"/>
              <a:buChar char="•"/>
            </a:pPr>
            <a:r>
              <a:rPr lang="en-US" sz="2877">
                <a:solidFill>
                  <a:srgbClr val="0F4662"/>
                </a:solidFill>
                <a:latin typeface="Quicksand"/>
                <a:ea typeface="Quicksand"/>
                <a:cs typeface="Quicksand"/>
                <a:sym typeface="Quicksand"/>
              </a:rPr>
              <a:t>Display Unit (LCD or OLED Screen) – To show real-time current values.</a:t>
            </a:r>
          </a:p>
          <a:p>
            <a:pPr algn="ctr">
              <a:lnSpc>
                <a:spcPts val="4029"/>
              </a:lnSpc>
              <a:spcBef>
                <a:spcPct val="0"/>
              </a:spcBef>
            </a:pPr>
          </a:p>
          <a:p>
            <a:pPr algn="ctr" marL="621350" indent="-310675" lvl="1">
              <a:lnSpc>
                <a:spcPts val="4029"/>
              </a:lnSpc>
              <a:spcBef>
                <a:spcPct val="0"/>
              </a:spcBef>
              <a:buFont typeface="Arial"/>
              <a:buChar char="•"/>
            </a:pPr>
            <a:r>
              <a:rPr lang="en-US" b="true" sz="2877">
                <a:solidFill>
                  <a:srgbClr val="0F4662"/>
                </a:solidFill>
                <a:latin typeface="Quicksand Bold"/>
                <a:ea typeface="Quicksand Bold"/>
                <a:cs typeface="Quicksand Bold"/>
                <a:sym typeface="Quicksand Bold"/>
              </a:rPr>
              <a:t>Wi-Fi/Bluetooth Module</a:t>
            </a:r>
            <a:r>
              <a:rPr lang="en-US" sz="2877">
                <a:solidFill>
                  <a:srgbClr val="0F4662"/>
                </a:solidFill>
                <a:latin typeface="Quicksand"/>
                <a:ea typeface="Quicksand"/>
                <a:cs typeface="Quicksand"/>
                <a:sym typeface="Quicksand"/>
              </a:rPr>
              <a:t> – To enable IoT-based remote monitoring (optional).</a:t>
            </a:r>
          </a:p>
          <a:p>
            <a:pPr algn="ctr">
              <a:lnSpc>
                <a:spcPts val="4029"/>
              </a:lnSpc>
              <a:spcBef>
                <a:spcPct val="0"/>
              </a:spcBef>
            </a:pPr>
          </a:p>
          <a:p>
            <a:pPr algn="ctr">
              <a:lnSpc>
                <a:spcPts val="214"/>
              </a:lnSpc>
              <a:spcBef>
                <a:spcPct val="0"/>
              </a:spcBef>
            </a:pPr>
          </a:p>
          <a:p>
            <a:pPr algn="ctr" marL="621350" indent="-310675" lvl="1">
              <a:lnSpc>
                <a:spcPts val="4029"/>
              </a:lnSpc>
              <a:spcBef>
                <a:spcPct val="0"/>
              </a:spcBef>
              <a:buFont typeface="Arial"/>
              <a:buChar char="•"/>
            </a:pPr>
            <a:r>
              <a:rPr lang="en-US" b="true" sz="2877">
                <a:solidFill>
                  <a:srgbClr val="0F4662"/>
                </a:solidFill>
                <a:latin typeface="Quicksand Bold"/>
                <a:ea typeface="Quicksand Bold"/>
                <a:cs typeface="Quicksand Bold"/>
                <a:sym typeface="Quicksand Bold"/>
              </a:rPr>
              <a:t>Buzzer/LED Indicator </a:t>
            </a:r>
            <a:r>
              <a:rPr lang="en-US" sz="2877">
                <a:solidFill>
                  <a:srgbClr val="0F4662"/>
                </a:solidFill>
                <a:latin typeface="Quicksand"/>
                <a:ea typeface="Quicksand"/>
                <a:cs typeface="Quicksand"/>
                <a:sym typeface="Quicksand"/>
              </a:rPr>
              <a:t>– To alert users in case of overcurrent detection.</a:t>
            </a:r>
          </a:p>
          <a:p>
            <a:pPr algn="ctr">
              <a:lnSpc>
                <a:spcPts val="4029"/>
              </a:lnSpc>
              <a:spcBef>
                <a:spcPct val="0"/>
              </a:spcBef>
            </a:pPr>
          </a:p>
          <a:p>
            <a:pPr algn="ctr" marL="621350" indent="-310675" lvl="1">
              <a:lnSpc>
                <a:spcPts val="4029"/>
              </a:lnSpc>
              <a:spcBef>
                <a:spcPct val="0"/>
              </a:spcBef>
              <a:buFont typeface="Arial"/>
              <a:buChar char="•"/>
            </a:pPr>
            <a:r>
              <a:rPr lang="en-US" b="true" sz="2877">
                <a:solidFill>
                  <a:srgbClr val="0F4662"/>
                </a:solidFill>
                <a:latin typeface="Quicksand Bold"/>
                <a:ea typeface="Quicksand Bold"/>
                <a:cs typeface="Quicksand Bold"/>
                <a:sym typeface="Quicksand Bold"/>
              </a:rPr>
              <a:t>Power Supply Unit </a:t>
            </a:r>
            <a:r>
              <a:rPr lang="en-US" sz="2877">
                <a:solidFill>
                  <a:srgbClr val="0F4662"/>
                </a:solidFill>
                <a:latin typeface="Quicksand"/>
                <a:ea typeface="Quicksand"/>
                <a:cs typeface="Quicksand"/>
                <a:sym typeface="Quicksand"/>
              </a:rPr>
              <a:t>– To power the system.</a:t>
            </a:r>
          </a:p>
        </p:txBody>
      </p:sp>
      <p:sp>
        <p:nvSpPr>
          <p:cNvPr name="AutoShape 9" id="9"/>
          <p:cNvSpPr/>
          <p:nvPr/>
        </p:nvSpPr>
        <p:spPr>
          <a:xfrm>
            <a:off x="741721" y="4408734"/>
            <a:ext cx="6492240" cy="0"/>
          </a:xfrm>
          <a:prstGeom prst="line">
            <a:avLst/>
          </a:prstGeom>
          <a:ln cap="flat" w="76200">
            <a:solidFill>
              <a:srgbClr val="0F4662"/>
            </a:solidFill>
            <a:prstDash val="solid"/>
            <a:headEnd type="none" len="sm" w="sm"/>
            <a:tailEnd type="none" len="sm" w="sm"/>
          </a:ln>
        </p:spPr>
      </p:sp>
      <p:sp>
        <p:nvSpPr>
          <p:cNvPr name="AutoShape 10" id="10"/>
          <p:cNvSpPr/>
          <p:nvPr/>
        </p:nvSpPr>
        <p:spPr>
          <a:xfrm>
            <a:off x="741721" y="6331623"/>
            <a:ext cx="6492240" cy="0"/>
          </a:xfrm>
          <a:prstGeom prst="line">
            <a:avLst/>
          </a:prstGeom>
          <a:ln cap="flat" w="76200">
            <a:solidFill>
              <a:srgbClr val="0F4662"/>
            </a:solidFill>
            <a:prstDash val="solid"/>
            <a:headEnd type="none" len="sm" w="sm"/>
            <a:tailEnd type="none" len="sm" w="sm"/>
          </a:ln>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13660651" y="0"/>
            <a:ext cx="4627349" cy="10287000"/>
            <a:chOff x="0" y="0"/>
            <a:chExt cx="1218726" cy="2709333"/>
          </a:xfrm>
        </p:grpSpPr>
        <p:sp>
          <p:nvSpPr>
            <p:cNvPr name="Freeform 3" id="3"/>
            <p:cNvSpPr/>
            <p:nvPr/>
          </p:nvSpPr>
          <p:spPr>
            <a:xfrm flipH="false" flipV="false" rot="0">
              <a:off x="0" y="0"/>
              <a:ext cx="1218726" cy="2709333"/>
            </a:xfrm>
            <a:custGeom>
              <a:avLst/>
              <a:gdLst/>
              <a:ahLst/>
              <a:cxnLst/>
              <a:rect r="r" b="b" t="t" l="l"/>
              <a:pathLst>
                <a:path h="2709333" w="1218726">
                  <a:moveTo>
                    <a:pt x="0" y="0"/>
                  </a:moveTo>
                  <a:lnTo>
                    <a:pt x="1218726" y="0"/>
                  </a:lnTo>
                  <a:lnTo>
                    <a:pt x="1218726" y="2709333"/>
                  </a:lnTo>
                  <a:lnTo>
                    <a:pt x="0" y="2709333"/>
                  </a:lnTo>
                  <a:close/>
                </a:path>
              </a:pathLst>
            </a:custGeom>
            <a:solidFill>
              <a:srgbClr val="7994A0"/>
            </a:solidFill>
          </p:spPr>
        </p:sp>
        <p:sp>
          <p:nvSpPr>
            <p:cNvPr name="TextBox 4" id="4"/>
            <p:cNvSpPr txBox="true"/>
            <p:nvPr/>
          </p:nvSpPr>
          <p:spPr>
            <a:xfrm>
              <a:off x="0" y="-123825"/>
              <a:ext cx="1218726" cy="2833158"/>
            </a:xfrm>
            <a:prstGeom prst="rect">
              <a:avLst/>
            </a:prstGeom>
          </p:spPr>
          <p:txBody>
            <a:bodyPr anchor="ctr" rtlCol="false" tIns="50800" lIns="50800" bIns="50800" rIns="50800"/>
            <a:lstStyle/>
            <a:p>
              <a:pPr algn="ctr">
                <a:lnSpc>
                  <a:spcPts val="4079"/>
                </a:lnSpc>
              </a:pPr>
            </a:p>
          </p:txBody>
        </p:sp>
      </p:grpSp>
      <p:grpSp>
        <p:nvGrpSpPr>
          <p:cNvPr name="Group 5" id="5"/>
          <p:cNvGrpSpPr/>
          <p:nvPr/>
        </p:nvGrpSpPr>
        <p:grpSpPr>
          <a:xfrm rot="0">
            <a:off x="11915073" y="1684924"/>
            <a:ext cx="5344227" cy="7573376"/>
            <a:chOff x="0" y="0"/>
            <a:chExt cx="827961" cy="1173314"/>
          </a:xfrm>
        </p:grpSpPr>
        <p:sp>
          <p:nvSpPr>
            <p:cNvPr name="Freeform 6" id="6"/>
            <p:cNvSpPr/>
            <p:nvPr/>
          </p:nvSpPr>
          <p:spPr>
            <a:xfrm flipH="false" flipV="false" rot="0">
              <a:off x="0" y="0"/>
              <a:ext cx="827961" cy="1173314"/>
            </a:xfrm>
            <a:custGeom>
              <a:avLst/>
              <a:gdLst/>
              <a:ahLst/>
              <a:cxnLst/>
              <a:rect r="r" b="b" t="t" l="l"/>
              <a:pathLst>
                <a:path h="1173314" w="827961">
                  <a:moveTo>
                    <a:pt x="33319" y="0"/>
                  </a:moveTo>
                  <a:lnTo>
                    <a:pt x="794642" y="0"/>
                  </a:lnTo>
                  <a:cubicBezTo>
                    <a:pt x="813043" y="0"/>
                    <a:pt x="827961" y="14917"/>
                    <a:pt x="827961" y="33319"/>
                  </a:cubicBezTo>
                  <a:lnTo>
                    <a:pt x="827961" y="1139995"/>
                  </a:lnTo>
                  <a:cubicBezTo>
                    <a:pt x="827961" y="1158397"/>
                    <a:pt x="813043" y="1173314"/>
                    <a:pt x="794642" y="1173314"/>
                  </a:cubicBezTo>
                  <a:lnTo>
                    <a:pt x="33319" y="1173314"/>
                  </a:lnTo>
                  <a:cubicBezTo>
                    <a:pt x="14917" y="1173314"/>
                    <a:pt x="0" y="1158397"/>
                    <a:pt x="0" y="1139995"/>
                  </a:cubicBezTo>
                  <a:lnTo>
                    <a:pt x="0" y="33319"/>
                  </a:lnTo>
                  <a:cubicBezTo>
                    <a:pt x="0" y="14917"/>
                    <a:pt x="14917" y="0"/>
                    <a:pt x="33319" y="0"/>
                  </a:cubicBezTo>
                  <a:close/>
                </a:path>
              </a:pathLst>
            </a:custGeom>
            <a:blipFill>
              <a:blip r:embed="rId2"/>
              <a:stretch>
                <a:fillRect l="-56349" t="0" r="-56349" b="0"/>
              </a:stretch>
            </a:blipFill>
          </p:spPr>
        </p:sp>
      </p:grpSp>
      <p:sp>
        <p:nvSpPr>
          <p:cNvPr name="TextBox 7" id="7"/>
          <p:cNvSpPr txBox="true"/>
          <p:nvPr/>
        </p:nvSpPr>
        <p:spPr>
          <a:xfrm rot="0">
            <a:off x="419431" y="1822961"/>
            <a:ext cx="10959003" cy="8271508"/>
          </a:xfrm>
          <a:prstGeom prst="rect">
            <a:avLst/>
          </a:prstGeom>
        </p:spPr>
        <p:txBody>
          <a:bodyPr anchor="t" rtlCol="false" tIns="0" lIns="0" bIns="0" rIns="0">
            <a:spAutoFit/>
          </a:bodyPr>
          <a:lstStyle/>
          <a:p>
            <a:pPr algn="ctr">
              <a:lnSpc>
                <a:spcPts val="5040"/>
              </a:lnSpc>
              <a:spcBef>
                <a:spcPct val="0"/>
              </a:spcBef>
            </a:pPr>
            <a:r>
              <a:rPr lang="en-US" b="true" sz="3600">
                <a:solidFill>
                  <a:srgbClr val="0F4662"/>
                </a:solidFill>
                <a:latin typeface="Cormorant Garamond Bold"/>
                <a:ea typeface="Cormorant Garamond Bold"/>
                <a:cs typeface="Cormorant Garamond Bold"/>
                <a:sym typeface="Cormorant Garamond Bold"/>
              </a:rPr>
              <a:t>The current sensor detects the current flowing through a circuit.</a:t>
            </a:r>
          </a:p>
          <a:p>
            <a:pPr algn="ctr">
              <a:lnSpc>
                <a:spcPts val="5040"/>
              </a:lnSpc>
              <a:spcBef>
                <a:spcPct val="0"/>
              </a:spcBef>
            </a:pPr>
            <a:r>
              <a:rPr lang="en-US" b="true" sz="3600">
                <a:solidFill>
                  <a:srgbClr val="0F4662"/>
                </a:solidFill>
                <a:latin typeface="Cormorant Garamond Bold"/>
                <a:ea typeface="Cormorant Garamond Bold"/>
                <a:cs typeface="Cormorant Garamond Bold"/>
                <a:sym typeface="Cormorant Garamond Bold"/>
              </a:rPr>
              <a:t>The sensor sends an analog signal to the microcontroller,   which converts it into a digital value using ADC (Analog-to-Digital Conversion).</a:t>
            </a:r>
          </a:p>
          <a:p>
            <a:pPr algn="ctr">
              <a:lnSpc>
                <a:spcPts val="5040"/>
              </a:lnSpc>
              <a:spcBef>
                <a:spcPct val="0"/>
              </a:spcBef>
            </a:pPr>
            <a:r>
              <a:rPr lang="en-US" b="true" sz="3600">
                <a:solidFill>
                  <a:srgbClr val="0F4662"/>
                </a:solidFill>
                <a:latin typeface="Cormorant Garamond Bold"/>
                <a:ea typeface="Cormorant Garamond Bold"/>
                <a:cs typeface="Cormorant Garamond Bold"/>
                <a:sym typeface="Cormorant Garamond Bold"/>
              </a:rPr>
              <a:t>The microcontroller processes the data, calculates the current value, and displays it on an LCD/OLED screen.</a:t>
            </a:r>
          </a:p>
          <a:p>
            <a:pPr algn="ctr">
              <a:lnSpc>
                <a:spcPts val="5040"/>
              </a:lnSpc>
              <a:spcBef>
                <a:spcPct val="0"/>
              </a:spcBef>
            </a:pPr>
          </a:p>
          <a:p>
            <a:pPr algn="ctr">
              <a:lnSpc>
                <a:spcPts val="5040"/>
              </a:lnSpc>
              <a:spcBef>
                <a:spcPct val="0"/>
              </a:spcBef>
            </a:pPr>
            <a:r>
              <a:rPr lang="en-US" b="true" sz="3600">
                <a:solidFill>
                  <a:srgbClr val="0F4662"/>
                </a:solidFill>
                <a:latin typeface="Cormorant Garamond Bold"/>
                <a:ea typeface="Cormorant Garamond Bold"/>
                <a:cs typeface="Cormorant Garamond Bold"/>
                <a:sym typeface="Cormorant Garamond Bold"/>
              </a:rPr>
              <a:t>If the current exceeds a predefined threshold, the system triggers a buzzer or LED alert to indicate an overcurrent condition.</a:t>
            </a:r>
          </a:p>
          <a:p>
            <a:pPr algn="ctr">
              <a:lnSpc>
                <a:spcPts val="5040"/>
              </a:lnSpc>
              <a:spcBef>
                <a:spcPct val="0"/>
              </a:spcBef>
            </a:pPr>
            <a:r>
              <a:rPr lang="en-US" b="true" sz="3600">
                <a:solidFill>
                  <a:srgbClr val="0F4662"/>
                </a:solidFill>
                <a:latin typeface="Cormorant Garamond Bold"/>
                <a:ea typeface="Cormorant Garamond Bold"/>
                <a:cs typeface="Cormorant Garamond Bold"/>
                <a:sym typeface="Cormorant Garamond Bold"/>
              </a:rPr>
              <a:t>For IoT-based applications, the data can be sent to a cloud platform or mobile app for remote monitoring and analysis.</a:t>
            </a:r>
          </a:p>
        </p:txBody>
      </p:sp>
      <p:grpSp>
        <p:nvGrpSpPr>
          <p:cNvPr name="Group 8" id="8"/>
          <p:cNvGrpSpPr/>
          <p:nvPr/>
        </p:nvGrpSpPr>
        <p:grpSpPr>
          <a:xfrm rot="0">
            <a:off x="242830" y="2033689"/>
            <a:ext cx="176601" cy="17660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994A0"/>
            </a:solidFill>
          </p:spPr>
        </p:sp>
        <p:sp>
          <p:nvSpPr>
            <p:cNvPr name="TextBox 10" id="10"/>
            <p:cNvSpPr txBox="true"/>
            <p:nvPr/>
          </p:nvSpPr>
          <p:spPr>
            <a:xfrm>
              <a:off x="76200" y="47625"/>
              <a:ext cx="660400" cy="688975"/>
            </a:xfrm>
            <a:prstGeom prst="rect">
              <a:avLst/>
            </a:prstGeom>
          </p:spPr>
          <p:txBody>
            <a:bodyPr anchor="ctr" rtlCol="false" tIns="50800" lIns="50800" bIns="50800" rIns="50800"/>
            <a:lstStyle/>
            <a:p>
              <a:pPr algn="ctr">
                <a:lnSpc>
                  <a:spcPts val="807"/>
                </a:lnSpc>
              </a:pPr>
            </a:p>
          </p:txBody>
        </p:sp>
      </p:grpSp>
      <p:sp>
        <p:nvSpPr>
          <p:cNvPr name="TextBox 11" id="11"/>
          <p:cNvSpPr txBox="true"/>
          <p:nvPr/>
        </p:nvSpPr>
        <p:spPr>
          <a:xfrm rot="0">
            <a:off x="419431" y="-791034"/>
            <a:ext cx="5702843" cy="2218690"/>
          </a:xfrm>
          <a:prstGeom prst="rect">
            <a:avLst/>
          </a:prstGeom>
        </p:spPr>
        <p:txBody>
          <a:bodyPr anchor="t" rtlCol="false" tIns="0" lIns="0" bIns="0" rIns="0">
            <a:spAutoFit/>
          </a:bodyPr>
          <a:lstStyle/>
          <a:p>
            <a:pPr algn="l">
              <a:lnSpc>
                <a:spcPts val="8959"/>
              </a:lnSpc>
            </a:pPr>
          </a:p>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Working Principle</a:t>
            </a:r>
          </a:p>
        </p:txBody>
      </p:sp>
      <p:grpSp>
        <p:nvGrpSpPr>
          <p:cNvPr name="Group 12" id="12"/>
          <p:cNvGrpSpPr/>
          <p:nvPr/>
        </p:nvGrpSpPr>
        <p:grpSpPr>
          <a:xfrm rot="0">
            <a:off x="242830" y="3289854"/>
            <a:ext cx="176601" cy="176601"/>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994A0"/>
            </a:solidFill>
          </p:spPr>
        </p:sp>
        <p:sp>
          <p:nvSpPr>
            <p:cNvPr name="TextBox 14" id="14"/>
            <p:cNvSpPr txBox="true"/>
            <p:nvPr/>
          </p:nvSpPr>
          <p:spPr>
            <a:xfrm>
              <a:off x="76200" y="47625"/>
              <a:ext cx="660400" cy="688975"/>
            </a:xfrm>
            <a:prstGeom prst="rect">
              <a:avLst/>
            </a:prstGeom>
          </p:spPr>
          <p:txBody>
            <a:bodyPr anchor="ctr" rtlCol="false" tIns="50800" lIns="50800" bIns="50800" rIns="50800"/>
            <a:lstStyle/>
            <a:p>
              <a:pPr algn="ctr">
                <a:lnSpc>
                  <a:spcPts val="807"/>
                </a:lnSpc>
              </a:pPr>
            </a:p>
          </p:txBody>
        </p:sp>
      </p:grpSp>
      <p:grpSp>
        <p:nvGrpSpPr>
          <p:cNvPr name="Group 15" id="15"/>
          <p:cNvGrpSpPr/>
          <p:nvPr/>
        </p:nvGrpSpPr>
        <p:grpSpPr>
          <a:xfrm rot="0">
            <a:off x="242830" y="5295011"/>
            <a:ext cx="176601" cy="17660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994A0"/>
            </a:solidFill>
          </p:spPr>
        </p:sp>
        <p:sp>
          <p:nvSpPr>
            <p:cNvPr name="TextBox 17" id="17"/>
            <p:cNvSpPr txBox="true"/>
            <p:nvPr/>
          </p:nvSpPr>
          <p:spPr>
            <a:xfrm>
              <a:off x="76200" y="47625"/>
              <a:ext cx="660400" cy="688975"/>
            </a:xfrm>
            <a:prstGeom prst="rect">
              <a:avLst/>
            </a:prstGeom>
          </p:spPr>
          <p:txBody>
            <a:bodyPr anchor="ctr" rtlCol="false" tIns="50800" lIns="50800" bIns="50800" rIns="50800"/>
            <a:lstStyle/>
            <a:p>
              <a:pPr algn="ctr">
                <a:lnSpc>
                  <a:spcPts val="807"/>
                </a:lnSpc>
              </a:pPr>
            </a:p>
          </p:txBody>
        </p:sp>
      </p:grpSp>
      <p:grpSp>
        <p:nvGrpSpPr>
          <p:cNvPr name="Group 18" id="18"/>
          <p:cNvGrpSpPr/>
          <p:nvPr/>
        </p:nvGrpSpPr>
        <p:grpSpPr>
          <a:xfrm rot="0">
            <a:off x="242830" y="7167960"/>
            <a:ext cx="176601" cy="176601"/>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994A0"/>
            </a:solidFill>
          </p:spPr>
        </p:sp>
        <p:sp>
          <p:nvSpPr>
            <p:cNvPr name="TextBox 20" id="20"/>
            <p:cNvSpPr txBox="true"/>
            <p:nvPr/>
          </p:nvSpPr>
          <p:spPr>
            <a:xfrm>
              <a:off x="76200" y="47625"/>
              <a:ext cx="660400" cy="688975"/>
            </a:xfrm>
            <a:prstGeom prst="rect">
              <a:avLst/>
            </a:prstGeom>
          </p:spPr>
          <p:txBody>
            <a:bodyPr anchor="ctr" rtlCol="false" tIns="50800" lIns="50800" bIns="50800" rIns="50800"/>
            <a:lstStyle/>
            <a:p>
              <a:pPr algn="ctr">
                <a:lnSpc>
                  <a:spcPts val="807"/>
                </a:lnSpc>
              </a:pPr>
            </a:p>
          </p:txBody>
        </p:sp>
      </p:grpSp>
      <p:grpSp>
        <p:nvGrpSpPr>
          <p:cNvPr name="Group 21" id="21"/>
          <p:cNvGrpSpPr/>
          <p:nvPr/>
        </p:nvGrpSpPr>
        <p:grpSpPr>
          <a:xfrm rot="0">
            <a:off x="242830" y="9081699"/>
            <a:ext cx="176601" cy="176601"/>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994A0"/>
            </a:solidFill>
          </p:spPr>
        </p:sp>
        <p:sp>
          <p:nvSpPr>
            <p:cNvPr name="TextBox 23" id="23"/>
            <p:cNvSpPr txBox="true"/>
            <p:nvPr/>
          </p:nvSpPr>
          <p:spPr>
            <a:xfrm>
              <a:off x="76200" y="47625"/>
              <a:ext cx="660400" cy="688975"/>
            </a:xfrm>
            <a:prstGeom prst="rect">
              <a:avLst/>
            </a:prstGeom>
          </p:spPr>
          <p:txBody>
            <a:bodyPr anchor="ctr" rtlCol="false" tIns="50800" lIns="50800" bIns="50800" rIns="50800"/>
            <a:lstStyle/>
            <a:p>
              <a:pPr algn="ctr">
                <a:lnSpc>
                  <a:spcPts val="807"/>
                </a:lnSpc>
              </a:pPr>
            </a:p>
          </p:txBody>
        </p:sp>
      </p:grpSp>
    </p:spTree>
  </p:cSld>
  <p:clrMapOvr>
    <a:masterClrMapping/>
  </p:clrMapOvr>
</p:sld>
</file>

<file path=ppt/slides/slide7.xml><?xml version="1.0" encoding="utf-8"?>
<p:sld xmlns:p="http://schemas.openxmlformats.org/presentationml/2006/main" xmlns:a="http://schemas.openxmlformats.org/drawingml/2006/main">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645056" y="1751150"/>
            <a:ext cx="16614244" cy="8135562"/>
            <a:chOff x="0" y="0"/>
            <a:chExt cx="1738716" cy="851404"/>
          </a:xfrm>
        </p:grpSpPr>
        <p:sp>
          <p:nvSpPr>
            <p:cNvPr name="Freeform 3" id="3"/>
            <p:cNvSpPr/>
            <p:nvPr/>
          </p:nvSpPr>
          <p:spPr>
            <a:xfrm flipH="false" flipV="false" rot="0">
              <a:off x="0" y="0"/>
              <a:ext cx="1738716" cy="851404"/>
            </a:xfrm>
            <a:custGeom>
              <a:avLst/>
              <a:gdLst/>
              <a:ahLst/>
              <a:cxnLst/>
              <a:rect r="r" b="b" t="t" l="l"/>
              <a:pathLst>
                <a:path h="851404" w="1738716">
                  <a:moveTo>
                    <a:pt x="10718" y="0"/>
                  </a:moveTo>
                  <a:lnTo>
                    <a:pt x="1727998" y="0"/>
                  </a:lnTo>
                  <a:cubicBezTo>
                    <a:pt x="1730841" y="0"/>
                    <a:pt x="1733567" y="1129"/>
                    <a:pt x="1735577" y="3139"/>
                  </a:cubicBezTo>
                  <a:cubicBezTo>
                    <a:pt x="1737587" y="5149"/>
                    <a:pt x="1738716" y="7875"/>
                    <a:pt x="1738716" y="10718"/>
                  </a:cubicBezTo>
                  <a:lnTo>
                    <a:pt x="1738716" y="840686"/>
                  </a:lnTo>
                  <a:cubicBezTo>
                    <a:pt x="1738716" y="843529"/>
                    <a:pt x="1737587" y="846255"/>
                    <a:pt x="1735577" y="848265"/>
                  </a:cubicBezTo>
                  <a:cubicBezTo>
                    <a:pt x="1733567" y="850275"/>
                    <a:pt x="1730841" y="851404"/>
                    <a:pt x="1727998" y="851404"/>
                  </a:cubicBezTo>
                  <a:lnTo>
                    <a:pt x="10718" y="851404"/>
                  </a:lnTo>
                  <a:cubicBezTo>
                    <a:pt x="7875" y="851404"/>
                    <a:pt x="5149" y="850275"/>
                    <a:pt x="3139" y="848265"/>
                  </a:cubicBezTo>
                  <a:cubicBezTo>
                    <a:pt x="1129" y="846255"/>
                    <a:pt x="0" y="843529"/>
                    <a:pt x="0" y="840686"/>
                  </a:cubicBezTo>
                  <a:lnTo>
                    <a:pt x="0" y="10718"/>
                  </a:lnTo>
                  <a:cubicBezTo>
                    <a:pt x="0" y="7875"/>
                    <a:pt x="1129" y="5149"/>
                    <a:pt x="3139" y="3139"/>
                  </a:cubicBezTo>
                  <a:cubicBezTo>
                    <a:pt x="5149" y="1129"/>
                    <a:pt x="7875" y="0"/>
                    <a:pt x="10718" y="0"/>
                  </a:cubicBezTo>
                  <a:close/>
                </a:path>
              </a:pathLst>
            </a:custGeom>
            <a:solidFill>
              <a:srgbClr val="7994A0"/>
            </a:solidFill>
          </p:spPr>
        </p:sp>
      </p:grpSp>
      <p:grpSp>
        <p:nvGrpSpPr>
          <p:cNvPr name="Group 4" id="4"/>
          <p:cNvGrpSpPr/>
          <p:nvPr/>
        </p:nvGrpSpPr>
        <p:grpSpPr>
          <a:xfrm rot="0">
            <a:off x="355950" y="1462044"/>
            <a:ext cx="16614244" cy="8135562"/>
            <a:chOff x="0" y="0"/>
            <a:chExt cx="1738716" cy="851404"/>
          </a:xfrm>
        </p:grpSpPr>
        <p:sp>
          <p:nvSpPr>
            <p:cNvPr name="Freeform 5" id="5"/>
            <p:cNvSpPr/>
            <p:nvPr/>
          </p:nvSpPr>
          <p:spPr>
            <a:xfrm flipH="false" flipV="false" rot="0">
              <a:off x="0" y="0"/>
              <a:ext cx="1738716" cy="851404"/>
            </a:xfrm>
            <a:custGeom>
              <a:avLst/>
              <a:gdLst/>
              <a:ahLst/>
              <a:cxnLst/>
              <a:rect r="r" b="b" t="t" l="l"/>
              <a:pathLst>
                <a:path h="851404" w="1738716">
                  <a:moveTo>
                    <a:pt x="10718" y="0"/>
                  </a:moveTo>
                  <a:lnTo>
                    <a:pt x="1727998" y="0"/>
                  </a:lnTo>
                  <a:cubicBezTo>
                    <a:pt x="1730841" y="0"/>
                    <a:pt x="1733567" y="1129"/>
                    <a:pt x="1735577" y="3139"/>
                  </a:cubicBezTo>
                  <a:cubicBezTo>
                    <a:pt x="1737587" y="5149"/>
                    <a:pt x="1738716" y="7875"/>
                    <a:pt x="1738716" y="10718"/>
                  </a:cubicBezTo>
                  <a:lnTo>
                    <a:pt x="1738716" y="840686"/>
                  </a:lnTo>
                  <a:cubicBezTo>
                    <a:pt x="1738716" y="843529"/>
                    <a:pt x="1737587" y="846255"/>
                    <a:pt x="1735577" y="848265"/>
                  </a:cubicBezTo>
                  <a:cubicBezTo>
                    <a:pt x="1733567" y="850275"/>
                    <a:pt x="1730841" y="851404"/>
                    <a:pt x="1727998" y="851404"/>
                  </a:cubicBezTo>
                  <a:lnTo>
                    <a:pt x="10718" y="851404"/>
                  </a:lnTo>
                  <a:cubicBezTo>
                    <a:pt x="7875" y="851404"/>
                    <a:pt x="5149" y="850275"/>
                    <a:pt x="3139" y="848265"/>
                  </a:cubicBezTo>
                  <a:cubicBezTo>
                    <a:pt x="1129" y="846255"/>
                    <a:pt x="0" y="843529"/>
                    <a:pt x="0" y="840686"/>
                  </a:cubicBezTo>
                  <a:lnTo>
                    <a:pt x="0" y="10718"/>
                  </a:lnTo>
                  <a:cubicBezTo>
                    <a:pt x="0" y="7875"/>
                    <a:pt x="1129" y="5149"/>
                    <a:pt x="3139" y="3139"/>
                  </a:cubicBezTo>
                  <a:cubicBezTo>
                    <a:pt x="5149" y="1129"/>
                    <a:pt x="7875" y="0"/>
                    <a:pt x="10718" y="0"/>
                  </a:cubicBezTo>
                  <a:close/>
                </a:path>
              </a:pathLst>
            </a:custGeom>
            <a:solidFill>
              <a:srgbClr val="DBE5EA"/>
            </a:solidFill>
          </p:spPr>
        </p:sp>
      </p:grpSp>
      <p:grpSp>
        <p:nvGrpSpPr>
          <p:cNvPr name="Group 6" id="6"/>
          <p:cNvGrpSpPr/>
          <p:nvPr/>
        </p:nvGrpSpPr>
        <p:grpSpPr>
          <a:xfrm rot="0">
            <a:off x="940400" y="2269939"/>
            <a:ext cx="176601" cy="17660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F4662"/>
            </a:solidFill>
          </p:spPr>
        </p:sp>
      </p:grpSp>
      <p:grpSp>
        <p:nvGrpSpPr>
          <p:cNvPr name="Group 8" id="8"/>
          <p:cNvGrpSpPr/>
          <p:nvPr/>
        </p:nvGrpSpPr>
        <p:grpSpPr>
          <a:xfrm rot="0">
            <a:off x="940400" y="3680630"/>
            <a:ext cx="176601" cy="176601"/>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F4662"/>
            </a:solidFill>
          </p:spPr>
        </p:sp>
      </p:grpSp>
      <p:grpSp>
        <p:nvGrpSpPr>
          <p:cNvPr name="Group 10" id="10"/>
          <p:cNvGrpSpPr/>
          <p:nvPr/>
        </p:nvGrpSpPr>
        <p:grpSpPr>
          <a:xfrm rot="0">
            <a:off x="940400" y="5143500"/>
            <a:ext cx="176601" cy="176601"/>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F4662"/>
            </a:solidFill>
          </p:spPr>
        </p:sp>
      </p:grpSp>
      <p:grpSp>
        <p:nvGrpSpPr>
          <p:cNvPr name="Group 12" id="12"/>
          <p:cNvGrpSpPr/>
          <p:nvPr/>
        </p:nvGrpSpPr>
        <p:grpSpPr>
          <a:xfrm rot="0">
            <a:off x="940400" y="6558351"/>
            <a:ext cx="176601" cy="176601"/>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F4662"/>
            </a:solidFill>
          </p:spPr>
        </p:sp>
      </p:grpSp>
      <p:grpSp>
        <p:nvGrpSpPr>
          <p:cNvPr name="Group 14" id="14"/>
          <p:cNvGrpSpPr/>
          <p:nvPr/>
        </p:nvGrpSpPr>
        <p:grpSpPr>
          <a:xfrm rot="0">
            <a:off x="940400" y="7973202"/>
            <a:ext cx="176601" cy="176601"/>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F4662"/>
            </a:solidFill>
          </p:spPr>
        </p:sp>
      </p:grpSp>
      <p:sp>
        <p:nvSpPr>
          <p:cNvPr name="TextBox 16" id="16"/>
          <p:cNvSpPr txBox="true"/>
          <p:nvPr/>
        </p:nvSpPr>
        <p:spPr>
          <a:xfrm rot="0">
            <a:off x="1220077" y="1970651"/>
            <a:ext cx="15464202" cy="7032624"/>
          </a:xfrm>
          <a:prstGeom prst="rect">
            <a:avLst/>
          </a:prstGeom>
        </p:spPr>
        <p:txBody>
          <a:bodyPr anchor="t" rtlCol="false" tIns="0" lIns="0" bIns="0" rIns="0">
            <a:spAutoFit/>
          </a:bodyPr>
          <a:lstStyle/>
          <a:p>
            <a:pPr algn="ctr">
              <a:lnSpc>
                <a:spcPts val="5600"/>
              </a:lnSpc>
              <a:spcBef>
                <a:spcPct val="0"/>
              </a:spcBef>
            </a:pPr>
            <a:r>
              <a:rPr lang="en-US" b="true" sz="4000">
                <a:solidFill>
                  <a:srgbClr val="0F4662"/>
                </a:solidFill>
                <a:latin typeface="Cormorant Garamond Bold"/>
                <a:ea typeface="Cormorant Garamond Bold"/>
                <a:cs typeface="Cormorant Garamond Bold"/>
                <a:sym typeface="Cormorant Garamond Bold"/>
              </a:rPr>
              <a:t>Circuit Design &amp; Sensor Connection: </a:t>
            </a:r>
            <a:r>
              <a:rPr lang="en-US" sz="4000">
                <a:solidFill>
                  <a:srgbClr val="0F4662"/>
                </a:solidFill>
                <a:latin typeface="Cormorant Garamond"/>
                <a:ea typeface="Cormorant Garamond"/>
                <a:cs typeface="Cormorant Garamond"/>
                <a:sym typeface="Cormorant Garamond"/>
              </a:rPr>
              <a:t>Connect the current sensor to the microcontroller and set up the circuit.</a:t>
            </a:r>
          </a:p>
          <a:p>
            <a:pPr algn="ctr">
              <a:lnSpc>
                <a:spcPts val="5600"/>
              </a:lnSpc>
              <a:spcBef>
                <a:spcPct val="0"/>
              </a:spcBef>
            </a:pPr>
            <a:r>
              <a:rPr lang="en-US" b="true" sz="4000">
                <a:solidFill>
                  <a:srgbClr val="0F4662"/>
                </a:solidFill>
                <a:latin typeface="Cormorant Garamond Bold"/>
                <a:ea typeface="Cormorant Garamond Bold"/>
                <a:cs typeface="Cormorant Garamond Bold"/>
                <a:sym typeface="Cormorant Garamond Bold"/>
              </a:rPr>
              <a:t>Microcontroller Programming: </a:t>
            </a:r>
            <a:r>
              <a:rPr lang="en-US" sz="4000">
                <a:solidFill>
                  <a:srgbClr val="0F4662"/>
                </a:solidFill>
                <a:latin typeface="Cormorant Garamond"/>
                <a:ea typeface="Cormorant Garamond"/>
                <a:cs typeface="Cormorant Garamond"/>
                <a:sym typeface="Cormorant Garamond"/>
              </a:rPr>
              <a:t>Write a program to read sensor data, process it, and display the values.</a:t>
            </a:r>
          </a:p>
          <a:p>
            <a:pPr algn="ctr">
              <a:lnSpc>
                <a:spcPts val="5600"/>
              </a:lnSpc>
              <a:spcBef>
                <a:spcPct val="0"/>
              </a:spcBef>
            </a:pPr>
            <a:r>
              <a:rPr lang="en-US" b="true" sz="4000">
                <a:solidFill>
                  <a:srgbClr val="0F4662"/>
                </a:solidFill>
                <a:latin typeface="Cormorant Garamond Bold"/>
                <a:ea typeface="Cormorant Garamond Bold"/>
                <a:cs typeface="Cormorant Garamond Bold"/>
                <a:sym typeface="Cormorant Garamond Bold"/>
              </a:rPr>
              <a:t>Integration with IoT (if needed): </a:t>
            </a:r>
            <a:r>
              <a:rPr lang="en-US" sz="4000">
                <a:solidFill>
                  <a:srgbClr val="0F4662"/>
                </a:solidFill>
                <a:latin typeface="Cormorant Garamond"/>
                <a:ea typeface="Cormorant Garamond"/>
                <a:cs typeface="Cormorant Garamond"/>
                <a:sym typeface="Cormorant Garamond"/>
              </a:rPr>
              <a:t>Set up Wi-Fi/Bluetooth for cloud data logging and mobile monitoring.</a:t>
            </a:r>
          </a:p>
          <a:p>
            <a:pPr algn="ctr">
              <a:lnSpc>
                <a:spcPts val="5600"/>
              </a:lnSpc>
              <a:spcBef>
                <a:spcPct val="0"/>
              </a:spcBef>
            </a:pPr>
            <a:r>
              <a:rPr lang="en-US" b="true" sz="4000">
                <a:solidFill>
                  <a:srgbClr val="0F4662"/>
                </a:solidFill>
                <a:latin typeface="Cormorant Garamond Bold"/>
                <a:ea typeface="Cormorant Garamond Bold"/>
                <a:cs typeface="Cormorant Garamond Bold"/>
                <a:sym typeface="Cormorant Garamond Bold"/>
              </a:rPr>
              <a:t>Testing &amp; Calibration: </a:t>
            </a:r>
            <a:r>
              <a:rPr lang="en-US" sz="4000">
                <a:solidFill>
                  <a:srgbClr val="0F4662"/>
                </a:solidFill>
                <a:latin typeface="Cormorant Garamond"/>
                <a:ea typeface="Cormorant Garamond"/>
                <a:cs typeface="Cormorant Garamond"/>
                <a:sym typeface="Cormorant Garamond"/>
              </a:rPr>
              <a:t>Measure different loads, calibrate the system for accuracy, and test overcurrent alerts.</a:t>
            </a:r>
          </a:p>
          <a:p>
            <a:pPr algn="ctr">
              <a:lnSpc>
                <a:spcPts val="5600"/>
              </a:lnSpc>
              <a:spcBef>
                <a:spcPct val="0"/>
              </a:spcBef>
            </a:pPr>
            <a:r>
              <a:rPr lang="en-US" b="true" sz="4000">
                <a:solidFill>
                  <a:srgbClr val="0F4662"/>
                </a:solidFill>
                <a:latin typeface="Cormorant Garamond Bold"/>
                <a:ea typeface="Cormorant Garamond Bold"/>
                <a:cs typeface="Cormorant Garamond Bold"/>
                <a:sym typeface="Cormorant Garamond Bold"/>
              </a:rPr>
              <a:t>Deployment: </a:t>
            </a:r>
            <a:r>
              <a:rPr lang="en-US" sz="4000">
                <a:solidFill>
                  <a:srgbClr val="0F4662"/>
                </a:solidFill>
                <a:latin typeface="Cormorant Garamond"/>
                <a:ea typeface="Cormorant Garamond"/>
                <a:cs typeface="Cormorant Garamond"/>
                <a:sym typeface="Cormorant Garamond"/>
              </a:rPr>
              <a:t>Install the system in homes, industries, or electric vehicle charging stations for real-world applications.</a:t>
            </a:r>
          </a:p>
        </p:txBody>
      </p:sp>
      <p:sp>
        <p:nvSpPr>
          <p:cNvPr name="TextBox 17" id="17"/>
          <p:cNvSpPr txBox="true"/>
          <p:nvPr/>
        </p:nvSpPr>
        <p:spPr>
          <a:xfrm rot="0">
            <a:off x="645056" y="158203"/>
            <a:ext cx="11537525"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Implement </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1309492" y="1128017"/>
            <a:ext cx="15949808" cy="8428321"/>
            <a:chOff x="0" y="0"/>
            <a:chExt cx="4200773" cy="2219805"/>
          </a:xfrm>
        </p:grpSpPr>
        <p:sp>
          <p:nvSpPr>
            <p:cNvPr name="Freeform 3" id="3"/>
            <p:cNvSpPr/>
            <p:nvPr/>
          </p:nvSpPr>
          <p:spPr>
            <a:xfrm flipH="false" flipV="false" rot="0">
              <a:off x="0" y="0"/>
              <a:ext cx="4200773" cy="2219805"/>
            </a:xfrm>
            <a:custGeom>
              <a:avLst/>
              <a:gdLst/>
              <a:ahLst/>
              <a:cxnLst/>
              <a:rect r="r" b="b" t="t" l="l"/>
              <a:pathLst>
                <a:path h="2219805" w="4200773">
                  <a:moveTo>
                    <a:pt x="24755" y="0"/>
                  </a:moveTo>
                  <a:lnTo>
                    <a:pt x="4176018" y="0"/>
                  </a:lnTo>
                  <a:cubicBezTo>
                    <a:pt x="4189690" y="0"/>
                    <a:pt x="4200773" y="11083"/>
                    <a:pt x="4200773" y="24755"/>
                  </a:cubicBezTo>
                  <a:lnTo>
                    <a:pt x="4200773" y="2195050"/>
                  </a:lnTo>
                  <a:cubicBezTo>
                    <a:pt x="4200773" y="2208721"/>
                    <a:pt x="4189690" y="2219805"/>
                    <a:pt x="4176018" y="2219805"/>
                  </a:cubicBezTo>
                  <a:lnTo>
                    <a:pt x="24755" y="2219805"/>
                  </a:lnTo>
                  <a:cubicBezTo>
                    <a:pt x="11083" y="2219805"/>
                    <a:pt x="0" y="2208721"/>
                    <a:pt x="0" y="2195050"/>
                  </a:cubicBezTo>
                  <a:lnTo>
                    <a:pt x="0" y="24755"/>
                  </a:lnTo>
                  <a:cubicBezTo>
                    <a:pt x="0" y="11083"/>
                    <a:pt x="11083" y="0"/>
                    <a:pt x="24755" y="0"/>
                  </a:cubicBezTo>
                  <a:close/>
                </a:path>
              </a:pathLst>
            </a:custGeom>
            <a:solidFill>
              <a:srgbClr val="7994A0"/>
            </a:solidFill>
          </p:spPr>
        </p:sp>
        <p:sp>
          <p:nvSpPr>
            <p:cNvPr name="TextBox 4" id="4"/>
            <p:cNvSpPr txBox="true"/>
            <p:nvPr/>
          </p:nvSpPr>
          <p:spPr>
            <a:xfrm>
              <a:off x="0" y="-38100"/>
              <a:ext cx="4200773" cy="2257905"/>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028700" y="829979"/>
            <a:ext cx="15949808" cy="8428321"/>
            <a:chOff x="0" y="0"/>
            <a:chExt cx="4200773" cy="2219805"/>
          </a:xfrm>
        </p:grpSpPr>
        <p:sp>
          <p:nvSpPr>
            <p:cNvPr name="Freeform 6" id="6"/>
            <p:cNvSpPr/>
            <p:nvPr/>
          </p:nvSpPr>
          <p:spPr>
            <a:xfrm flipH="false" flipV="false" rot="0">
              <a:off x="0" y="0"/>
              <a:ext cx="4200773" cy="2219805"/>
            </a:xfrm>
            <a:custGeom>
              <a:avLst/>
              <a:gdLst/>
              <a:ahLst/>
              <a:cxnLst/>
              <a:rect r="r" b="b" t="t" l="l"/>
              <a:pathLst>
                <a:path h="2219805" w="4200773">
                  <a:moveTo>
                    <a:pt x="24755" y="0"/>
                  </a:moveTo>
                  <a:lnTo>
                    <a:pt x="4176018" y="0"/>
                  </a:lnTo>
                  <a:cubicBezTo>
                    <a:pt x="4189690" y="0"/>
                    <a:pt x="4200773" y="11083"/>
                    <a:pt x="4200773" y="24755"/>
                  </a:cubicBezTo>
                  <a:lnTo>
                    <a:pt x="4200773" y="2195050"/>
                  </a:lnTo>
                  <a:cubicBezTo>
                    <a:pt x="4200773" y="2208721"/>
                    <a:pt x="4189690" y="2219805"/>
                    <a:pt x="4176018" y="2219805"/>
                  </a:cubicBezTo>
                  <a:lnTo>
                    <a:pt x="24755" y="2219805"/>
                  </a:lnTo>
                  <a:cubicBezTo>
                    <a:pt x="11083" y="2219805"/>
                    <a:pt x="0" y="2208721"/>
                    <a:pt x="0" y="2195050"/>
                  </a:cubicBezTo>
                  <a:lnTo>
                    <a:pt x="0" y="24755"/>
                  </a:lnTo>
                  <a:cubicBezTo>
                    <a:pt x="0" y="11083"/>
                    <a:pt x="11083" y="0"/>
                    <a:pt x="24755" y="0"/>
                  </a:cubicBezTo>
                  <a:close/>
                </a:path>
              </a:pathLst>
            </a:custGeom>
            <a:solidFill>
              <a:srgbClr val="DBE5EA"/>
            </a:solidFill>
          </p:spPr>
        </p:sp>
        <p:sp>
          <p:nvSpPr>
            <p:cNvPr name="TextBox 7" id="7"/>
            <p:cNvSpPr txBox="true"/>
            <p:nvPr/>
          </p:nvSpPr>
          <p:spPr>
            <a:xfrm>
              <a:off x="0" y="-38100"/>
              <a:ext cx="4200773" cy="2257905"/>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1309492" y="1149464"/>
            <a:ext cx="11537525"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Applications :</a:t>
            </a:r>
          </a:p>
        </p:txBody>
      </p:sp>
      <p:sp>
        <p:nvSpPr>
          <p:cNvPr name="TextBox 9" id="9"/>
          <p:cNvSpPr txBox="true"/>
          <p:nvPr/>
        </p:nvSpPr>
        <p:spPr>
          <a:xfrm rot="0">
            <a:off x="1750998" y="2368344"/>
            <a:ext cx="15035883" cy="6381749"/>
          </a:xfrm>
          <a:prstGeom prst="rect">
            <a:avLst/>
          </a:prstGeom>
        </p:spPr>
        <p:txBody>
          <a:bodyPr anchor="t" rtlCol="false" tIns="0" lIns="0" bIns="0" rIns="0">
            <a:spAutoFit/>
          </a:bodyPr>
          <a:lstStyle/>
          <a:p>
            <a:pPr algn="ctr">
              <a:lnSpc>
                <a:spcPts val="6300"/>
              </a:lnSpc>
              <a:spcBef>
                <a:spcPct val="0"/>
              </a:spcBef>
            </a:pPr>
            <a:r>
              <a:rPr lang="en-US" b="true" sz="4500">
                <a:solidFill>
                  <a:srgbClr val="0F4662"/>
                </a:solidFill>
                <a:latin typeface="Cormorant Garamond Bold"/>
                <a:ea typeface="Cormorant Garamond Bold"/>
                <a:cs typeface="Cormorant Garamond Bold"/>
                <a:sym typeface="Cormorant Garamond Bold"/>
              </a:rPr>
              <a:t>Smart Home Energy Monitoring – </a:t>
            </a:r>
            <a:r>
              <a:rPr lang="en-US" sz="4500">
                <a:solidFill>
                  <a:srgbClr val="0F4662"/>
                </a:solidFill>
                <a:latin typeface="Cormorant Garamond"/>
                <a:ea typeface="Cormorant Garamond"/>
                <a:cs typeface="Cormorant Garamond"/>
                <a:sym typeface="Cormorant Garamond"/>
              </a:rPr>
              <a:t>Tracks power consumption of appliances to improve efficiency and reduce electricity costs.</a:t>
            </a:r>
          </a:p>
          <a:p>
            <a:pPr algn="ctr">
              <a:lnSpc>
                <a:spcPts val="6300"/>
              </a:lnSpc>
              <a:spcBef>
                <a:spcPct val="0"/>
              </a:spcBef>
            </a:pPr>
            <a:r>
              <a:rPr lang="en-US" b="true" sz="4500">
                <a:solidFill>
                  <a:srgbClr val="0F4662"/>
                </a:solidFill>
                <a:latin typeface="Cormorant Garamond Bold"/>
                <a:ea typeface="Cormorant Garamond Bold"/>
                <a:cs typeface="Cormorant Garamond Bold"/>
                <a:sym typeface="Cormorant Garamond Bold"/>
              </a:rPr>
              <a:t>Electric Vehicle (EV) Charging Stations – </a:t>
            </a:r>
            <a:r>
              <a:rPr lang="en-US" sz="4500">
                <a:solidFill>
                  <a:srgbClr val="0F4662"/>
                </a:solidFill>
                <a:latin typeface="Cormorant Garamond"/>
                <a:ea typeface="Cormorant Garamond"/>
                <a:cs typeface="Cormorant Garamond"/>
                <a:sym typeface="Cormorant Garamond"/>
              </a:rPr>
              <a:t>Ensures safe and optimized charging by monitoring current flow.</a:t>
            </a:r>
          </a:p>
          <a:p>
            <a:pPr algn="ctr">
              <a:lnSpc>
                <a:spcPts val="6300"/>
              </a:lnSpc>
              <a:spcBef>
                <a:spcPct val="0"/>
              </a:spcBef>
            </a:pPr>
            <a:r>
              <a:rPr lang="en-US" b="true" sz="4500">
                <a:solidFill>
                  <a:srgbClr val="0F4662"/>
                </a:solidFill>
                <a:latin typeface="Cormorant Garamond Bold"/>
                <a:ea typeface="Cormorant Garamond Bold"/>
                <a:cs typeface="Cormorant Garamond Bold"/>
                <a:sym typeface="Cormorant Garamond Bold"/>
              </a:rPr>
              <a:t>Industrial Automation – </a:t>
            </a:r>
            <a:r>
              <a:rPr lang="en-US" sz="4500">
                <a:solidFill>
                  <a:srgbClr val="0F4662"/>
                </a:solidFill>
                <a:latin typeface="Cormorant Garamond"/>
                <a:ea typeface="Cormorant Garamond"/>
                <a:cs typeface="Cormorant Garamond"/>
                <a:sym typeface="Cormorant Garamond"/>
              </a:rPr>
              <a:t>Prevents equipment failures by detecting overcurrent and optimizing power usage.</a:t>
            </a:r>
          </a:p>
          <a:p>
            <a:pPr algn="ctr">
              <a:lnSpc>
                <a:spcPts val="6300"/>
              </a:lnSpc>
              <a:spcBef>
                <a:spcPct val="0"/>
              </a:spcBef>
            </a:pPr>
            <a:r>
              <a:rPr lang="en-US" b="true" sz="4500">
                <a:solidFill>
                  <a:srgbClr val="0F4662"/>
                </a:solidFill>
                <a:latin typeface="Cormorant Garamond Bold"/>
                <a:ea typeface="Cormorant Garamond Bold"/>
                <a:cs typeface="Cormorant Garamond Bold"/>
                <a:sym typeface="Cormorant Garamond Bold"/>
              </a:rPr>
              <a:t>Smart Grids &amp; Power Distribution – </a:t>
            </a:r>
            <a:r>
              <a:rPr lang="en-US" sz="4500">
                <a:solidFill>
                  <a:srgbClr val="0F4662"/>
                </a:solidFill>
                <a:latin typeface="Cormorant Garamond"/>
                <a:ea typeface="Cormorant Garamond"/>
                <a:cs typeface="Cormorant Garamond"/>
                <a:sym typeface="Cormorant Garamond"/>
              </a:rPr>
              <a:t>Helps in real-time load balancing and fault detection in electrical networks.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AutoShape 2" id="2"/>
          <p:cNvSpPr/>
          <p:nvPr/>
        </p:nvSpPr>
        <p:spPr>
          <a:xfrm>
            <a:off x="5897880" y="3568974"/>
            <a:ext cx="6492240" cy="0"/>
          </a:xfrm>
          <a:prstGeom prst="line">
            <a:avLst/>
          </a:prstGeom>
          <a:ln cap="flat" w="76200">
            <a:solidFill>
              <a:srgbClr val="0F4662"/>
            </a:solidFill>
            <a:prstDash val="solid"/>
            <a:headEnd type="none" len="sm" w="sm"/>
            <a:tailEnd type="none" len="sm" w="sm"/>
          </a:ln>
        </p:spPr>
      </p:sp>
      <p:sp>
        <p:nvSpPr>
          <p:cNvPr name="AutoShape 3" id="3"/>
          <p:cNvSpPr/>
          <p:nvPr/>
        </p:nvSpPr>
        <p:spPr>
          <a:xfrm>
            <a:off x="5897880" y="7381239"/>
            <a:ext cx="6492240" cy="0"/>
          </a:xfrm>
          <a:prstGeom prst="line">
            <a:avLst/>
          </a:prstGeom>
          <a:ln cap="flat" w="76200">
            <a:solidFill>
              <a:srgbClr val="0F4662"/>
            </a:solidFill>
            <a:prstDash val="solid"/>
            <a:headEnd type="none" len="sm" w="sm"/>
            <a:tailEnd type="none" len="sm" w="sm"/>
          </a:ln>
        </p:spPr>
      </p:sp>
      <p:sp>
        <p:nvSpPr>
          <p:cNvPr name="Freeform 4" id="4"/>
          <p:cNvSpPr/>
          <p:nvPr/>
        </p:nvSpPr>
        <p:spPr>
          <a:xfrm flipH="false" flipV="false" rot="0">
            <a:off x="8304001" y="2470557"/>
            <a:ext cx="1679997" cy="249900"/>
          </a:xfrm>
          <a:custGeom>
            <a:avLst/>
            <a:gdLst/>
            <a:ahLst/>
            <a:cxnLst/>
            <a:rect r="r" b="b" t="t" l="l"/>
            <a:pathLst>
              <a:path h="249900" w="1679997">
                <a:moveTo>
                  <a:pt x="0" y="0"/>
                </a:moveTo>
                <a:lnTo>
                  <a:pt x="1679998" y="0"/>
                </a:lnTo>
                <a:lnTo>
                  <a:pt x="1679998" y="249899"/>
                </a:lnTo>
                <a:lnTo>
                  <a:pt x="0" y="2498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8304001" y="8019527"/>
            <a:ext cx="1679997" cy="249900"/>
          </a:xfrm>
          <a:custGeom>
            <a:avLst/>
            <a:gdLst/>
            <a:ahLst/>
            <a:cxnLst/>
            <a:rect r="r" b="b" t="t" l="l"/>
            <a:pathLst>
              <a:path h="249900" w="1679997">
                <a:moveTo>
                  <a:pt x="0" y="0"/>
                </a:moveTo>
                <a:lnTo>
                  <a:pt x="1679998" y="0"/>
                </a:lnTo>
                <a:lnTo>
                  <a:pt x="1679998"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028700" y="599709"/>
            <a:ext cx="11534821"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Conclusion</a:t>
            </a:r>
          </a:p>
        </p:txBody>
      </p:sp>
      <p:sp>
        <p:nvSpPr>
          <p:cNvPr name="TextBox 7" id="7"/>
          <p:cNvSpPr txBox="true"/>
          <p:nvPr/>
        </p:nvSpPr>
        <p:spPr>
          <a:xfrm rot="0">
            <a:off x="2339981" y="3782061"/>
            <a:ext cx="14181996" cy="3313428"/>
          </a:xfrm>
          <a:prstGeom prst="rect">
            <a:avLst/>
          </a:prstGeom>
        </p:spPr>
        <p:txBody>
          <a:bodyPr anchor="t" rtlCol="false" tIns="0" lIns="0" bIns="0" rIns="0">
            <a:spAutoFit/>
          </a:bodyPr>
          <a:lstStyle/>
          <a:p>
            <a:pPr algn="ctr">
              <a:lnSpc>
                <a:spcPts val="5320"/>
              </a:lnSpc>
              <a:spcBef>
                <a:spcPct val="0"/>
              </a:spcBef>
            </a:pPr>
            <a:r>
              <a:rPr lang="en-US" sz="3800">
                <a:solidFill>
                  <a:srgbClr val="0F4662"/>
                </a:solidFill>
                <a:latin typeface="Cormorant Garamond"/>
                <a:ea typeface="Cormorant Garamond"/>
                <a:cs typeface="Cormorant Garamond"/>
                <a:sym typeface="Cormorant Garamond"/>
              </a:rPr>
              <a:t>Automatic current measurement enhances accuracy, safety, and energy efficiency in electrical systems. This project successfully implements a real-time monitoring system for improved power management and fault detection. With IoT and AI integration, it can further optimize energy use, predictive maintenance, and smart automation in various applications.</a:t>
            </a:r>
          </a:p>
        </p:txBody>
      </p:sp>
      <p:sp>
        <p:nvSpPr>
          <p:cNvPr name="AutoShape 8" id="8"/>
          <p:cNvSpPr/>
          <p:nvPr/>
        </p:nvSpPr>
        <p:spPr>
          <a:xfrm flipV="true">
            <a:off x="643937" y="616252"/>
            <a:ext cx="19047" cy="9252271"/>
          </a:xfrm>
          <a:prstGeom prst="line">
            <a:avLst/>
          </a:prstGeom>
          <a:ln cap="flat" w="38100">
            <a:solidFill>
              <a:srgbClr val="0F4662"/>
            </a:solidFill>
            <a:prstDash val="sysDot"/>
            <a:headEnd type="none" len="sm" w="sm"/>
            <a:tailEnd type="none" len="sm" w="sm"/>
          </a:ln>
        </p:spPr>
      </p:sp>
      <p:sp>
        <p:nvSpPr>
          <p:cNvPr name="AutoShape 9" id="9"/>
          <p:cNvSpPr/>
          <p:nvPr/>
        </p:nvSpPr>
        <p:spPr>
          <a:xfrm flipH="true" flipV="true">
            <a:off x="643937" y="615938"/>
            <a:ext cx="16978309" cy="98071"/>
          </a:xfrm>
          <a:prstGeom prst="line">
            <a:avLst/>
          </a:prstGeom>
          <a:ln cap="flat" w="38100">
            <a:solidFill>
              <a:srgbClr val="0F4662"/>
            </a:solidFill>
            <a:prstDash val="sysDot"/>
            <a:headEnd type="none" len="sm" w="sm"/>
            <a:tailEnd type="none" len="sm" w="sm"/>
          </a:ln>
        </p:spPr>
      </p:sp>
      <p:sp>
        <p:nvSpPr>
          <p:cNvPr name="AutoShape 10" id="10"/>
          <p:cNvSpPr/>
          <p:nvPr/>
        </p:nvSpPr>
        <p:spPr>
          <a:xfrm flipV="true">
            <a:off x="643937" y="9868523"/>
            <a:ext cx="16978309" cy="0"/>
          </a:xfrm>
          <a:prstGeom prst="line">
            <a:avLst/>
          </a:prstGeom>
          <a:ln cap="flat" w="38100">
            <a:solidFill>
              <a:srgbClr val="0F4662"/>
            </a:solidFill>
            <a:prstDash val="sysDot"/>
            <a:headEnd type="none" len="sm" w="sm"/>
            <a:tailEnd type="none" len="sm" w="sm"/>
          </a:ln>
        </p:spPr>
      </p:sp>
      <p:sp>
        <p:nvSpPr>
          <p:cNvPr name="AutoShape 11" id="11"/>
          <p:cNvSpPr/>
          <p:nvPr/>
        </p:nvSpPr>
        <p:spPr>
          <a:xfrm>
            <a:off x="17622246" y="714009"/>
            <a:ext cx="0" cy="9154514"/>
          </a:xfrm>
          <a:prstGeom prst="line">
            <a:avLst/>
          </a:prstGeom>
          <a:ln cap="flat" w="38100">
            <a:solidFill>
              <a:srgbClr val="0F4662"/>
            </a:solidFill>
            <a:prstDash val="sysDot"/>
            <a:headEnd type="none" len="sm" w="sm"/>
            <a:tailEnd type="none" len="sm" w="sm"/>
          </a:ln>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TextBox 2" id="2"/>
          <p:cNvSpPr txBox="true"/>
          <p:nvPr/>
        </p:nvSpPr>
        <p:spPr>
          <a:xfrm rot="0">
            <a:off x="3442710" y="3369664"/>
            <a:ext cx="11402580" cy="3185722"/>
          </a:xfrm>
          <a:prstGeom prst="rect">
            <a:avLst/>
          </a:prstGeom>
        </p:spPr>
        <p:txBody>
          <a:bodyPr anchor="t" rtlCol="false" tIns="0" lIns="0" bIns="0" rIns="0">
            <a:spAutoFit/>
          </a:bodyPr>
          <a:lstStyle/>
          <a:p>
            <a:pPr algn="ctr" marL="0" indent="0" lvl="0">
              <a:lnSpc>
                <a:spcPts val="26009"/>
              </a:lnSpc>
              <a:spcBef>
                <a:spcPct val="0"/>
              </a:spcBef>
            </a:pPr>
            <a:r>
              <a:rPr lang="en-US" b="true" sz="18577" i="true">
                <a:solidFill>
                  <a:srgbClr val="0F4662"/>
                </a:solidFill>
                <a:latin typeface="Cormorant Garamond Bold Italics"/>
                <a:ea typeface="Cormorant Garamond Bold Italics"/>
                <a:cs typeface="Cormorant Garamond Bold Italics"/>
                <a:sym typeface="Cormorant Garamond Bold Italics"/>
              </a:rPr>
              <a:t>Thank you</a:t>
            </a:r>
          </a:p>
        </p:txBody>
      </p:sp>
      <p:sp>
        <p:nvSpPr>
          <p:cNvPr name="AutoShape 3" id="3"/>
          <p:cNvSpPr/>
          <p:nvPr/>
        </p:nvSpPr>
        <p:spPr>
          <a:xfrm>
            <a:off x="5897880" y="2215083"/>
            <a:ext cx="6492240" cy="0"/>
          </a:xfrm>
          <a:prstGeom prst="line">
            <a:avLst/>
          </a:prstGeom>
          <a:ln cap="flat" w="76200">
            <a:solidFill>
              <a:srgbClr val="0F4662"/>
            </a:solidFill>
            <a:prstDash val="solid"/>
            <a:headEnd type="none" len="sm" w="sm"/>
            <a:tailEnd type="none" len="sm" w="sm"/>
          </a:ln>
        </p:spPr>
      </p:sp>
      <p:sp>
        <p:nvSpPr>
          <p:cNvPr name="Freeform 4" id="4"/>
          <p:cNvSpPr/>
          <p:nvPr/>
        </p:nvSpPr>
        <p:spPr>
          <a:xfrm flipH="false" flipV="false" rot="0">
            <a:off x="8304001" y="1116666"/>
            <a:ext cx="1679997" cy="249900"/>
          </a:xfrm>
          <a:custGeom>
            <a:avLst/>
            <a:gdLst/>
            <a:ahLst/>
            <a:cxnLst/>
            <a:rect r="r" b="b" t="t" l="l"/>
            <a:pathLst>
              <a:path h="249900" w="1679997">
                <a:moveTo>
                  <a:pt x="0" y="0"/>
                </a:moveTo>
                <a:lnTo>
                  <a:pt x="1679998" y="0"/>
                </a:lnTo>
                <a:lnTo>
                  <a:pt x="1679998" y="249899"/>
                </a:lnTo>
                <a:lnTo>
                  <a:pt x="0" y="2498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5" id="5"/>
          <p:cNvSpPr/>
          <p:nvPr/>
        </p:nvSpPr>
        <p:spPr>
          <a:xfrm>
            <a:off x="5897880" y="8159883"/>
            <a:ext cx="6492240" cy="0"/>
          </a:xfrm>
          <a:prstGeom prst="line">
            <a:avLst/>
          </a:prstGeom>
          <a:ln cap="flat" w="76200">
            <a:solidFill>
              <a:srgbClr val="0F4662"/>
            </a:solidFill>
            <a:prstDash val="solid"/>
            <a:headEnd type="none" len="sm" w="sm"/>
            <a:tailEnd type="none" len="sm" w="sm"/>
          </a:ln>
        </p:spPr>
      </p:sp>
      <p:sp>
        <p:nvSpPr>
          <p:cNvPr name="Freeform 6" id="6"/>
          <p:cNvSpPr/>
          <p:nvPr/>
        </p:nvSpPr>
        <p:spPr>
          <a:xfrm flipH="false" flipV="false" rot="0">
            <a:off x="8304001" y="9008400"/>
            <a:ext cx="1679997" cy="249900"/>
          </a:xfrm>
          <a:custGeom>
            <a:avLst/>
            <a:gdLst/>
            <a:ahLst/>
            <a:cxnLst/>
            <a:rect r="r" b="b" t="t" l="l"/>
            <a:pathLst>
              <a:path h="249900" w="1679997">
                <a:moveTo>
                  <a:pt x="0" y="0"/>
                </a:moveTo>
                <a:lnTo>
                  <a:pt x="1679998" y="0"/>
                </a:lnTo>
                <a:lnTo>
                  <a:pt x="1679998"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DAGgf64F9NE</dc:identifier>
  <dcterms:modified xsi:type="dcterms:W3CDTF">2011-08-01T06:04:30Z</dcterms:modified>
  <cp:revision>1</cp:revision>
  <dc:title>Automatic current measurement enhances accuracy, efficiency, and safety in electrical systems by replacing manual monitoring with real-time sensing. Using Hall-effect sensors, shunt resistors, or Rogowski coils, these systems integrate with</dc:title>
</cp:coreProperties>
</file>